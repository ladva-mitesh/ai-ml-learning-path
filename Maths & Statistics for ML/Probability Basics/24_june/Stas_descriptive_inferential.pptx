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custom-properties+xml" PartName="/docProps/custom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custom-properties" Target="docProps/custom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8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</p:sldIdLst>
  <p:sldSz cy="5143500" cx="9144000"/>
  <p:notesSz cx="9144000" cy="5143500"/>
  <p:embeddedFontLst>
    <p:embeddedFont>
      <p:font typeface="Nunito"/>
      <p:regular r:id="rId27"/>
      <p:bold r:id="rId28"/>
      <p:italic r:id="rId29"/>
      <p:boldItalic r:id="rId30"/>
    </p:embeddedFont>
    <p:embeddedFont>
      <p:font typeface="Tahoma"/>
      <p:regular r:id="rId31"/>
      <p:bold r:id="rId32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  <p:ext uri="GoogleSlidesCustomDataVersion2">
      <go:slidesCustomData xmlns:go="http://customooxmlschemas.google.com/" r:id="rId33" roundtripDataSignature="AMtx7mg5y0ufP6H5jWPAt621BTBjq6HwMg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880" orient="horz"/>
        <p:guide pos="216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5.xml"/><Relationship Id="rId22" Type="http://schemas.openxmlformats.org/officeDocument/2006/relationships/slide" Target="slides/slide17.xml"/><Relationship Id="rId21" Type="http://schemas.openxmlformats.org/officeDocument/2006/relationships/slide" Target="slides/slide16.xml"/><Relationship Id="rId24" Type="http://schemas.openxmlformats.org/officeDocument/2006/relationships/slide" Target="slides/slide19.xml"/><Relationship Id="rId23" Type="http://schemas.openxmlformats.org/officeDocument/2006/relationships/slide" Target="slides/slide18.xml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26" Type="http://schemas.openxmlformats.org/officeDocument/2006/relationships/slide" Target="slides/slide21.xml"/><Relationship Id="rId25" Type="http://schemas.openxmlformats.org/officeDocument/2006/relationships/slide" Target="slides/slide20.xml"/><Relationship Id="rId28" Type="http://schemas.openxmlformats.org/officeDocument/2006/relationships/font" Target="fonts/Nunito-bold.fntdata"/><Relationship Id="rId27" Type="http://schemas.openxmlformats.org/officeDocument/2006/relationships/font" Target="fonts/Nunito-regular.fntdata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29" Type="http://schemas.openxmlformats.org/officeDocument/2006/relationships/font" Target="fonts/Nunito-italic.fntdata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31" Type="http://schemas.openxmlformats.org/officeDocument/2006/relationships/font" Target="fonts/Tahoma-regular.fntdata"/><Relationship Id="rId30" Type="http://schemas.openxmlformats.org/officeDocument/2006/relationships/font" Target="fonts/Nunito-boldItalic.fntdata"/><Relationship Id="rId11" Type="http://schemas.openxmlformats.org/officeDocument/2006/relationships/slide" Target="slides/slide6.xml"/><Relationship Id="rId33" Type="http://customschemas.google.com/relationships/presentationmetadata" Target="metadata"/><Relationship Id="rId10" Type="http://schemas.openxmlformats.org/officeDocument/2006/relationships/slide" Target="slides/slide5.xml"/><Relationship Id="rId32" Type="http://schemas.openxmlformats.org/officeDocument/2006/relationships/font" Target="fonts/Tahoma-bold.fntdata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19" Type="http://schemas.openxmlformats.org/officeDocument/2006/relationships/slide" Target="slides/slide14.xml"/><Relationship Id="rId18" Type="http://schemas.openxmlformats.org/officeDocument/2006/relationships/slide" Target="slides/slide1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524300" y="385750"/>
            <a:ext cx="6096300" cy="19288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914400" y="2443150"/>
            <a:ext cx="7315200" cy="2314575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1:notes"/>
          <p:cNvSpPr txBox="1"/>
          <p:nvPr>
            <p:ph idx="1" type="body"/>
          </p:nvPr>
        </p:nvSpPr>
        <p:spPr>
          <a:xfrm>
            <a:off x="914400" y="2443150"/>
            <a:ext cx="7315200" cy="2314575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1" name="Google Shape;51;p1:notes"/>
          <p:cNvSpPr/>
          <p:nvPr>
            <p:ph idx="2" type="sldImg"/>
          </p:nvPr>
        </p:nvSpPr>
        <p:spPr>
          <a:xfrm>
            <a:off x="1524300" y="385750"/>
            <a:ext cx="6096300" cy="19288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7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p2:notes"/>
          <p:cNvSpPr txBox="1"/>
          <p:nvPr>
            <p:ph idx="1" type="body"/>
          </p:nvPr>
        </p:nvSpPr>
        <p:spPr>
          <a:xfrm>
            <a:off x="914400" y="2443150"/>
            <a:ext cx="7315200" cy="2314575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9" name="Google Shape;59;p2:notes"/>
          <p:cNvSpPr/>
          <p:nvPr>
            <p:ph idx="2" type="sldImg"/>
          </p:nvPr>
        </p:nvSpPr>
        <p:spPr>
          <a:xfrm>
            <a:off x="1524300" y="385750"/>
            <a:ext cx="6096300" cy="19288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4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p3:notes"/>
          <p:cNvSpPr txBox="1"/>
          <p:nvPr>
            <p:ph idx="1" type="body"/>
          </p:nvPr>
        </p:nvSpPr>
        <p:spPr>
          <a:xfrm>
            <a:off x="914400" y="2443150"/>
            <a:ext cx="7315200" cy="2314575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6" name="Google Shape;66;p3:notes"/>
          <p:cNvSpPr/>
          <p:nvPr>
            <p:ph idx="2" type="sldImg"/>
          </p:nvPr>
        </p:nvSpPr>
        <p:spPr>
          <a:xfrm>
            <a:off x="1524300" y="385750"/>
            <a:ext cx="6096300" cy="19288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0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p4:notes"/>
          <p:cNvSpPr txBox="1"/>
          <p:nvPr>
            <p:ph idx="1" type="body"/>
          </p:nvPr>
        </p:nvSpPr>
        <p:spPr>
          <a:xfrm>
            <a:off x="914400" y="2443150"/>
            <a:ext cx="7315200" cy="2314575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2" name="Google Shape;72;p4:notes"/>
          <p:cNvSpPr/>
          <p:nvPr>
            <p:ph idx="2" type="sldImg"/>
          </p:nvPr>
        </p:nvSpPr>
        <p:spPr>
          <a:xfrm>
            <a:off x="1524300" y="385750"/>
            <a:ext cx="6096300" cy="19288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7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p5:notes"/>
          <p:cNvSpPr txBox="1"/>
          <p:nvPr>
            <p:ph idx="1" type="body"/>
          </p:nvPr>
        </p:nvSpPr>
        <p:spPr>
          <a:xfrm>
            <a:off x="914400" y="2443150"/>
            <a:ext cx="7315200" cy="2314575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9" name="Google Shape;79;p5:notes"/>
          <p:cNvSpPr/>
          <p:nvPr>
            <p:ph idx="2" type="sldImg"/>
          </p:nvPr>
        </p:nvSpPr>
        <p:spPr>
          <a:xfrm>
            <a:off x="1524300" y="385750"/>
            <a:ext cx="6096300" cy="19288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6:notes"/>
          <p:cNvSpPr txBox="1"/>
          <p:nvPr>
            <p:ph idx="1" type="body"/>
          </p:nvPr>
        </p:nvSpPr>
        <p:spPr>
          <a:xfrm>
            <a:off x="914400" y="2443150"/>
            <a:ext cx="7315200" cy="2314575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5" name="Google Shape;85;p6:notes"/>
          <p:cNvSpPr/>
          <p:nvPr>
            <p:ph idx="2" type="sldImg"/>
          </p:nvPr>
        </p:nvSpPr>
        <p:spPr>
          <a:xfrm>
            <a:off x="1524300" y="385750"/>
            <a:ext cx="6096300" cy="19288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7:notes"/>
          <p:cNvSpPr txBox="1"/>
          <p:nvPr>
            <p:ph idx="1" type="body"/>
          </p:nvPr>
        </p:nvSpPr>
        <p:spPr>
          <a:xfrm>
            <a:off x="914400" y="2443150"/>
            <a:ext cx="7315200" cy="2314575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1" name="Google Shape;91;p7:notes"/>
          <p:cNvSpPr/>
          <p:nvPr>
            <p:ph idx="2" type="sldImg"/>
          </p:nvPr>
        </p:nvSpPr>
        <p:spPr>
          <a:xfrm>
            <a:off x="1524300" y="385750"/>
            <a:ext cx="6096300" cy="19288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8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Google Shape;119;p8:notes"/>
          <p:cNvSpPr txBox="1"/>
          <p:nvPr>
            <p:ph idx="1" type="body"/>
          </p:nvPr>
        </p:nvSpPr>
        <p:spPr>
          <a:xfrm>
            <a:off x="914400" y="2443150"/>
            <a:ext cx="7315200" cy="2314575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0" name="Google Shape;120;p8:notes"/>
          <p:cNvSpPr/>
          <p:nvPr>
            <p:ph idx="2" type="sldImg"/>
          </p:nvPr>
        </p:nvSpPr>
        <p:spPr>
          <a:xfrm>
            <a:off x="1524300" y="385750"/>
            <a:ext cx="6096300" cy="19288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4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p9:notes"/>
          <p:cNvSpPr txBox="1"/>
          <p:nvPr>
            <p:ph idx="1" type="body"/>
          </p:nvPr>
        </p:nvSpPr>
        <p:spPr>
          <a:xfrm>
            <a:off x="914400" y="2443150"/>
            <a:ext cx="7315200" cy="2314575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6" name="Google Shape;126;p9:notes"/>
          <p:cNvSpPr/>
          <p:nvPr>
            <p:ph idx="2" type="sldImg"/>
          </p:nvPr>
        </p:nvSpPr>
        <p:spPr>
          <a:xfrm>
            <a:off x="1524300" y="385750"/>
            <a:ext cx="6096300" cy="19288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Google Shape;132;p10:notes"/>
          <p:cNvSpPr txBox="1"/>
          <p:nvPr>
            <p:ph idx="1" type="body"/>
          </p:nvPr>
        </p:nvSpPr>
        <p:spPr>
          <a:xfrm>
            <a:off x="914400" y="2443150"/>
            <a:ext cx="7315200" cy="2314575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3" name="Google Shape;133;p10:notes"/>
          <p:cNvSpPr/>
          <p:nvPr>
            <p:ph idx="2" type="sldImg"/>
          </p:nvPr>
        </p:nvSpPr>
        <p:spPr>
          <a:xfrm>
            <a:off x="1524300" y="385750"/>
            <a:ext cx="6096300" cy="19288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0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Google Shape;141;p11:notes"/>
          <p:cNvSpPr txBox="1"/>
          <p:nvPr>
            <p:ph idx="1" type="body"/>
          </p:nvPr>
        </p:nvSpPr>
        <p:spPr>
          <a:xfrm>
            <a:off x="914400" y="2443150"/>
            <a:ext cx="7315200" cy="2314575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2" name="Google Shape;142;p11:notes"/>
          <p:cNvSpPr/>
          <p:nvPr>
            <p:ph idx="2" type="sldImg"/>
          </p:nvPr>
        </p:nvSpPr>
        <p:spPr>
          <a:xfrm>
            <a:off x="1524300" y="385750"/>
            <a:ext cx="6096300" cy="19288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6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Google Shape;147;p12:notes"/>
          <p:cNvSpPr txBox="1"/>
          <p:nvPr>
            <p:ph idx="1" type="body"/>
          </p:nvPr>
        </p:nvSpPr>
        <p:spPr>
          <a:xfrm>
            <a:off x="914400" y="2443150"/>
            <a:ext cx="7315200" cy="2314575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8" name="Google Shape;148;p12:notes"/>
          <p:cNvSpPr/>
          <p:nvPr>
            <p:ph idx="2" type="sldImg"/>
          </p:nvPr>
        </p:nvSpPr>
        <p:spPr>
          <a:xfrm>
            <a:off x="1524300" y="385750"/>
            <a:ext cx="6096300" cy="19288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3" name="Shape 1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Google Shape;154;p13:notes"/>
          <p:cNvSpPr txBox="1"/>
          <p:nvPr>
            <p:ph idx="1" type="body"/>
          </p:nvPr>
        </p:nvSpPr>
        <p:spPr>
          <a:xfrm>
            <a:off x="914400" y="2443150"/>
            <a:ext cx="7315200" cy="2314575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5" name="Google Shape;155;p13:notes"/>
          <p:cNvSpPr/>
          <p:nvPr>
            <p:ph idx="2" type="sldImg"/>
          </p:nvPr>
        </p:nvSpPr>
        <p:spPr>
          <a:xfrm>
            <a:off x="1524300" y="385750"/>
            <a:ext cx="6096300" cy="19288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9" name="Shape 1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" name="Google Shape;160;p14:notes"/>
          <p:cNvSpPr txBox="1"/>
          <p:nvPr>
            <p:ph idx="1" type="body"/>
          </p:nvPr>
        </p:nvSpPr>
        <p:spPr>
          <a:xfrm>
            <a:off x="914400" y="2443150"/>
            <a:ext cx="7315200" cy="2314575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1" name="Google Shape;161;p14:notes"/>
          <p:cNvSpPr/>
          <p:nvPr>
            <p:ph idx="2" type="sldImg"/>
          </p:nvPr>
        </p:nvSpPr>
        <p:spPr>
          <a:xfrm>
            <a:off x="1524300" y="385750"/>
            <a:ext cx="6096300" cy="19288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5" name="Shape 1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" name="Google Shape;166;p15:notes"/>
          <p:cNvSpPr txBox="1"/>
          <p:nvPr>
            <p:ph idx="1" type="body"/>
          </p:nvPr>
        </p:nvSpPr>
        <p:spPr>
          <a:xfrm>
            <a:off x="914400" y="2443150"/>
            <a:ext cx="7315200" cy="2314575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7" name="Google Shape;167;p15:notes"/>
          <p:cNvSpPr/>
          <p:nvPr>
            <p:ph idx="2" type="sldImg"/>
          </p:nvPr>
        </p:nvSpPr>
        <p:spPr>
          <a:xfrm>
            <a:off x="1524300" y="385750"/>
            <a:ext cx="6096300" cy="19288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1" name="Shape 1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" name="Google Shape;172;p16:notes"/>
          <p:cNvSpPr txBox="1"/>
          <p:nvPr>
            <p:ph idx="1" type="body"/>
          </p:nvPr>
        </p:nvSpPr>
        <p:spPr>
          <a:xfrm>
            <a:off x="914400" y="2443150"/>
            <a:ext cx="7315200" cy="2314575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3" name="Google Shape;173;p16:notes"/>
          <p:cNvSpPr/>
          <p:nvPr>
            <p:ph idx="2" type="sldImg"/>
          </p:nvPr>
        </p:nvSpPr>
        <p:spPr>
          <a:xfrm>
            <a:off x="1524300" y="385750"/>
            <a:ext cx="6096300" cy="19288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7" name="Shape 1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" name="Google Shape;178;p17:notes"/>
          <p:cNvSpPr txBox="1"/>
          <p:nvPr>
            <p:ph idx="1" type="body"/>
          </p:nvPr>
        </p:nvSpPr>
        <p:spPr>
          <a:xfrm>
            <a:off x="914400" y="2443150"/>
            <a:ext cx="7315200" cy="2314575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9" name="Google Shape;179;p17:notes"/>
          <p:cNvSpPr/>
          <p:nvPr>
            <p:ph idx="2" type="sldImg"/>
          </p:nvPr>
        </p:nvSpPr>
        <p:spPr>
          <a:xfrm>
            <a:off x="1524300" y="385750"/>
            <a:ext cx="6096300" cy="19288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2" name="Shape 1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3" name="Google Shape;183;p18:notes"/>
          <p:cNvSpPr txBox="1"/>
          <p:nvPr>
            <p:ph idx="1" type="body"/>
          </p:nvPr>
        </p:nvSpPr>
        <p:spPr>
          <a:xfrm>
            <a:off x="914400" y="2443150"/>
            <a:ext cx="7315200" cy="2314575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4" name="Google Shape;184;p18:notes"/>
          <p:cNvSpPr/>
          <p:nvPr>
            <p:ph idx="2" type="sldImg"/>
          </p:nvPr>
        </p:nvSpPr>
        <p:spPr>
          <a:xfrm>
            <a:off x="1524300" y="385750"/>
            <a:ext cx="6096300" cy="19288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9" name="Shape 1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0" name="Google Shape;190;p19:notes"/>
          <p:cNvSpPr txBox="1"/>
          <p:nvPr>
            <p:ph idx="1" type="body"/>
          </p:nvPr>
        </p:nvSpPr>
        <p:spPr>
          <a:xfrm>
            <a:off x="914400" y="2443150"/>
            <a:ext cx="7315200" cy="2314575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1" name="Google Shape;191;p19:notes"/>
          <p:cNvSpPr/>
          <p:nvPr>
            <p:ph idx="2" type="sldImg"/>
          </p:nvPr>
        </p:nvSpPr>
        <p:spPr>
          <a:xfrm>
            <a:off x="1524300" y="385750"/>
            <a:ext cx="6096300" cy="19288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5" name="Shape 1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6" name="Google Shape;196;p20:notes"/>
          <p:cNvSpPr txBox="1"/>
          <p:nvPr>
            <p:ph idx="1" type="body"/>
          </p:nvPr>
        </p:nvSpPr>
        <p:spPr>
          <a:xfrm>
            <a:off x="914400" y="2443150"/>
            <a:ext cx="7315200" cy="2314575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7" name="Google Shape;197;p20:notes"/>
          <p:cNvSpPr/>
          <p:nvPr>
            <p:ph idx="2" type="sldImg"/>
          </p:nvPr>
        </p:nvSpPr>
        <p:spPr>
          <a:xfrm>
            <a:off x="1524300" y="385750"/>
            <a:ext cx="6096300" cy="19288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3" name="Shape 2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" name="Google Shape;204;p21:notes"/>
          <p:cNvSpPr txBox="1"/>
          <p:nvPr>
            <p:ph idx="1" type="body"/>
          </p:nvPr>
        </p:nvSpPr>
        <p:spPr>
          <a:xfrm>
            <a:off x="914400" y="2443150"/>
            <a:ext cx="7315200" cy="2314575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5" name="Google Shape;205;p21:notes"/>
          <p:cNvSpPr/>
          <p:nvPr>
            <p:ph idx="2" type="sldImg"/>
          </p:nvPr>
        </p:nvSpPr>
        <p:spPr>
          <a:xfrm>
            <a:off x="1524300" y="385750"/>
            <a:ext cx="6096300" cy="19288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jpg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showMasterSp="0" type="obj">
  <p:cSld name="OBJECT">
    <p:bg>
      <p:bgPr>
        <a:solidFill>
          <a:schemeClr val="lt1"/>
        </a:solidFill>
      </p:bgPr>
    </p:bg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23"/>
          <p:cNvSpPr/>
          <p:nvPr/>
        </p:nvSpPr>
        <p:spPr>
          <a:xfrm>
            <a:off x="0" y="0"/>
            <a:ext cx="9144000" cy="5143500"/>
          </a:xfrm>
          <a:custGeom>
            <a:rect b="b" l="l" r="r" t="t"/>
            <a:pathLst>
              <a:path extrusionOk="0" h="5143500" w="9144000">
                <a:moveTo>
                  <a:pt x="9143999" y="5143499"/>
                </a:moveTo>
                <a:lnTo>
                  <a:pt x="0" y="5143499"/>
                </a:lnTo>
                <a:lnTo>
                  <a:pt x="0" y="0"/>
                </a:lnTo>
                <a:lnTo>
                  <a:pt x="9143999" y="0"/>
                </a:lnTo>
                <a:lnTo>
                  <a:pt x="9143999" y="5143499"/>
                </a:lnTo>
                <a:close/>
              </a:path>
            </a:pathLst>
          </a:custGeom>
          <a:solidFill>
            <a:srgbClr val="D9EAD3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</p:txBody>
      </p:sp>
      <p:pic>
        <p:nvPicPr>
          <p:cNvPr id="17" name="Google Shape;17;p23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0"/>
            <a:ext cx="1589535" cy="393600"/>
          </a:xfrm>
          <a:prstGeom prst="rect">
            <a:avLst/>
          </a:prstGeom>
          <a:noFill/>
          <a:ln>
            <a:noFill/>
          </a:ln>
        </p:spPr>
      </p:pic>
      <p:sp>
        <p:nvSpPr>
          <p:cNvPr id="18" name="Google Shape;18;p23"/>
          <p:cNvSpPr/>
          <p:nvPr/>
        </p:nvSpPr>
        <p:spPr>
          <a:xfrm>
            <a:off x="7500300" y="504"/>
            <a:ext cx="1644014" cy="1644014"/>
          </a:xfrm>
          <a:custGeom>
            <a:rect b="b" l="l" r="r" t="t"/>
            <a:pathLst>
              <a:path extrusionOk="0" h="1644014" w="1644015">
                <a:moveTo>
                  <a:pt x="1643699" y="1643699"/>
                </a:moveTo>
                <a:lnTo>
                  <a:pt x="0" y="0"/>
                </a:lnTo>
                <a:lnTo>
                  <a:pt x="1643699" y="0"/>
                </a:lnTo>
                <a:lnTo>
                  <a:pt x="1643699" y="1643699"/>
                </a:lnTo>
                <a:close/>
              </a:path>
            </a:pathLst>
          </a:custGeom>
          <a:solidFill>
            <a:srgbClr val="FFFFFF">
              <a:alpha val="2745"/>
            </a:srgbClr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</p:txBody>
      </p:sp>
      <p:sp>
        <p:nvSpPr>
          <p:cNvPr id="19" name="Google Shape;19;p23"/>
          <p:cNvSpPr/>
          <p:nvPr/>
        </p:nvSpPr>
        <p:spPr>
          <a:xfrm>
            <a:off x="0" y="405942"/>
            <a:ext cx="4755515" cy="4737735"/>
          </a:xfrm>
          <a:custGeom>
            <a:rect b="b" l="l" r="r" t="t"/>
            <a:pathLst>
              <a:path extrusionOk="0" h="4737735" w="4755515">
                <a:moveTo>
                  <a:pt x="4755502" y="4737557"/>
                </a:moveTo>
                <a:lnTo>
                  <a:pt x="0" y="0"/>
                </a:lnTo>
                <a:lnTo>
                  <a:pt x="0" y="1141628"/>
                </a:lnTo>
                <a:lnTo>
                  <a:pt x="0" y="2567127"/>
                </a:lnTo>
                <a:lnTo>
                  <a:pt x="0" y="2783332"/>
                </a:lnTo>
                <a:lnTo>
                  <a:pt x="1961426" y="4737557"/>
                </a:lnTo>
                <a:lnTo>
                  <a:pt x="2178659" y="4737557"/>
                </a:lnTo>
                <a:lnTo>
                  <a:pt x="3609187" y="4737557"/>
                </a:lnTo>
                <a:lnTo>
                  <a:pt x="4755502" y="4737557"/>
                </a:lnTo>
                <a:close/>
              </a:path>
            </a:pathLst>
          </a:custGeom>
          <a:solidFill>
            <a:srgbClr val="FFFFFF">
              <a:alpha val="2745"/>
            </a:srgbClr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</p:txBody>
      </p:sp>
      <p:sp>
        <p:nvSpPr>
          <p:cNvPr id="20" name="Google Shape;20;p23"/>
          <p:cNvSpPr/>
          <p:nvPr/>
        </p:nvSpPr>
        <p:spPr>
          <a:xfrm>
            <a:off x="1495" y="405790"/>
            <a:ext cx="2300605" cy="2291715"/>
          </a:xfrm>
          <a:custGeom>
            <a:rect b="b" l="l" r="r" t="t"/>
            <a:pathLst>
              <a:path extrusionOk="0" h="2291715" w="2300605">
                <a:moveTo>
                  <a:pt x="2300099" y="2291520"/>
                </a:moveTo>
                <a:lnTo>
                  <a:pt x="1150049" y="2291520"/>
                </a:lnTo>
                <a:lnTo>
                  <a:pt x="0" y="1145760"/>
                </a:lnTo>
                <a:lnTo>
                  <a:pt x="0" y="0"/>
                </a:lnTo>
                <a:lnTo>
                  <a:pt x="2300099" y="2291520"/>
                </a:lnTo>
                <a:close/>
              </a:path>
            </a:pathLst>
          </a:custGeom>
          <a:solidFill>
            <a:srgbClr val="6AA84F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</p:txBody>
      </p:sp>
      <p:sp>
        <p:nvSpPr>
          <p:cNvPr id="21" name="Google Shape;21;p23"/>
          <p:cNvSpPr/>
          <p:nvPr/>
        </p:nvSpPr>
        <p:spPr>
          <a:xfrm>
            <a:off x="652821" y="993626"/>
            <a:ext cx="2300605" cy="2291715"/>
          </a:xfrm>
          <a:custGeom>
            <a:rect b="b" l="l" r="r" t="t"/>
            <a:pathLst>
              <a:path extrusionOk="0" h="2291715" w="2300605">
                <a:moveTo>
                  <a:pt x="2300099" y="2291520"/>
                </a:moveTo>
                <a:lnTo>
                  <a:pt x="0" y="0"/>
                </a:lnTo>
                <a:lnTo>
                  <a:pt x="1150049" y="0"/>
                </a:lnTo>
                <a:lnTo>
                  <a:pt x="2300099" y="1145760"/>
                </a:lnTo>
                <a:lnTo>
                  <a:pt x="2300099" y="2291520"/>
                </a:lnTo>
                <a:close/>
              </a:path>
            </a:pathLst>
          </a:custGeom>
          <a:solidFill>
            <a:srgbClr val="37761C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</p:txBody>
      </p:sp>
      <p:sp>
        <p:nvSpPr>
          <p:cNvPr id="22" name="Google Shape;22;p23"/>
          <p:cNvSpPr txBox="1"/>
          <p:nvPr>
            <p:ph type="title"/>
          </p:nvPr>
        </p:nvSpPr>
        <p:spPr>
          <a:xfrm>
            <a:off x="1370525" y="544033"/>
            <a:ext cx="6859168" cy="39115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2400">
                <a:solidFill>
                  <a:srgbClr val="37761C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23"/>
          <p:cNvSpPr txBox="1"/>
          <p:nvPr>
            <p:ph idx="11" type="ftr"/>
          </p:nvPr>
        </p:nvSpPr>
        <p:spPr>
          <a:xfrm>
            <a:off x="3108960" y="4783455"/>
            <a:ext cx="2926080" cy="2571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888888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4" name="Google Shape;24;p23"/>
          <p:cNvSpPr txBox="1"/>
          <p:nvPr>
            <p:ph idx="10" type="dt"/>
          </p:nvPr>
        </p:nvSpPr>
        <p:spPr>
          <a:xfrm>
            <a:off x="457200" y="4783455"/>
            <a:ext cx="2103120" cy="2571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888888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23"/>
          <p:cNvSpPr txBox="1"/>
          <p:nvPr>
            <p:ph idx="12" type="sldNum"/>
          </p:nvPr>
        </p:nvSpPr>
        <p:spPr>
          <a:xfrm>
            <a:off x="6583680" y="4783455"/>
            <a:ext cx="2103120" cy="2571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0" lv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indent="0" lvl="1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indent="0" lvl="2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indent="0" lvl="3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indent="0" lvl="4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indent="0" lvl="5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indent="0" lvl="6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indent="0" lvl="7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indent="0" lvl="8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>
  <p:cSld name="Blank">
    <p:spTree>
      <p:nvGrpSpPr>
        <p:cNvPr id="26" name="Shape 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Google Shape;27;p24"/>
          <p:cNvSpPr txBox="1"/>
          <p:nvPr>
            <p:ph idx="11" type="ftr"/>
          </p:nvPr>
        </p:nvSpPr>
        <p:spPr>
          <a:xfrm>
            <a:off x="3108960" y="4783455"/>
            <a:ext cx="2926080" cy="2571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888888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8" name="Google Shape;28;p24"/>
          <p:cNvSpPr txBox="1"/>
          <p:nvPr>
            <p:ph idx="10" type="dt"/>
          </p:nvPr>
        </p:nvSpPr>
        <p:spPr>
          <a:xfrm>
            <a:off x="457200" y="4783455"/>
            <a:ext cx="2103120" cy="2571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888888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24"/>
          <p:cNvSpPr txBox="1"/>
          <p:nvPr>
            <p:ph idx="12" type="sldNum"/>
          </p:nvPr>
        </p:nvSpPr>
        <p:spPr>
          <a:xfrm>
            <a:off x="6583680" y="4783455"/>
            <a:ext cx="2103120" cy="2571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0" lv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indent="0" lvl="1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indent="0" lvl="2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indent="0" lvl="3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indent="0" lvl="4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indent="0" lvl="5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indent="0" lvl="6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indent="0" lvl="7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indent="0" lvl="8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>
  <p:cSld name="Title Slide">
    <p:spTree>
      <p:nvGrpSpPr>
        <p:cNvPr id="30" name="Shape 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Google Shape;31;p25"/>
          <p:cNvSpPr txBox="1"/>
          <p:nvPr>
            <p:ph type="ctrTitle"/>
          </p:nvPr>
        </p:nvSpPr>
        <p:spPr>
          <a:xfrm>
            <a:off x="685800" y="1594485"/>
            <a:ext cx="7772400" cy="108013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2400">
                <a:solidFill>
                  <a:srgbClr val="37761C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p25"/>
          <p:cNvSpPr txBox="1"/>
          <p:nvPr>
            <p:ph idx="1" type="subTitle"/>
          </p:nvPr>
        </p:nvSpPr>
        <p:spPr>
          <a:xfrm>
            <a:off x="1371600" y="2880360"/>
            <a:ext cx="6400800" cy="12858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>
                <a:solidFill>
                  <a:srgbClr val="274E13"/>
                </a:solidFill>
                <a:latin typeface="Tahoma"/>
                <a:ea typeface="Tahoma"/>
                <a:cs typeface="Tahoma"/>
                <a:sym typeface="Tahoma"/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3" name="Google Shape;33;p25"/>
          <p:cNvSpPr txBox="1"/>
          <p:nvPr>
            <p:ph idx="11" type="ftr"/>
          </p:nvPr>
        </p:nvSpPr>
        <p:spPr>
          <a:xfrm>
            <a:off x="3108960" y="4783455"/>
            <a:ext cx="2926080" cy="2571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888888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4" name="Google Shape;34;p25"/>
          <p:cNvSpPr txBox="1"/>
          <p:nvPr>
            <p:ph idx="10" type="dt"/>
          </p:nvPr>
        </p:nvSpPr>
        <p:spPr>
          <a:xfrm>
            <a:off x="457200" y="4783455"/>
            <a:ext cx="2103120" cy="2571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888888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25"/>
          <p:cNvSpPr txBox="1"/>
          <p:nvPr>
            <p:ph idx="12" type="sldNum"/>
          </p:nvPr>
        </p:nvSpPr>
        <p:spPr>
          <a:xfrm>
            <a:off x="6583680" y="4783455"/>
            <a:ext cx="2103120" cy="2571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0" lv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indent="0" lvl="1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indent="0" lvl="2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indent="0" lvl="3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indent="0" lvl="4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indent="0" lvl="5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indent="0" lvl="6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indent="0" lvl="7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indent="0" lvl="8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>
  <p:cSld name="Title and Content">
    <p:spTree>
      <p:nvGrpSpPr>
        <p:cNvPr id="36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26"/>
          <p:cNvSpPr txBox="1"/>
          <p:nvPr>
            <p:ph type="title"/>
          </p:nvPr>
        </p:nvSpPr>
        <p:spPr>
          <a:xfrm>
            <a:off x="1370525" y="544033"/>
            <a:ext cx="6859168" cy="39115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2400">
                <a:solidFill>
                  <a:srgbClr val="37761C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26"/>
          <p:cNvSpPr txBox="1"/>
          <p:nvPr>
            <p:ph idx="1" type="body"/>
          </p:nvPr>
        </p:nvSpPr>
        <p:spPr>
          <a:xfrm>
            <a:off x="1445767" y="1603999"/>
            <a:ext cx="6555105" cy="236029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>
                <a:solidFill>
                  <a:srgbClr val="274E13"/>
                </a:solidFill>
                <a:latin typeface="Tahoma"/>
                <a:ea typeface="Tahoma"/>
                <a:cs typeface="Tahoma"/>
                <a:sym typeface="Tahoma"/>
              </a:defRPr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26"/>
          <p:cNvSpPr txBox="1"/>
          <p:nvPr>
            <p:ph idx="11" type="ftr"/>
          </p:nvPr>
        </p:nvSpPr>
        <p:spPr>
          <a:xfrm>
            <a:off x="3108960" y="4783455"/>
            <a:ext cx="2926080" cy="2571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888888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0" name="Google Shape;40;p26"/>
          <p:cNvSpPr txBox="1"/>
          <p:nvPr>
            <p:ph idx="10" type="dt"/>
          </p:nvPr>
        </p:nvSpPr>
        <p:spPr>
          <a:xfrm>
            <a:off x="457200" y="4783455"/>
            <a:ext cx="2103120" cy="2571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888888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1" name="Google Shape;41;p26"/>
          <p:cNvSpPr txBox="1"/>
          <p:nvPr>
            <p:ph idx="12" type="sldNum"/>
          </p:nvPr>
        </p:nvSpPr>
        <p:spPr>
          <a:xfrm>
            <a:off x="6583680" y="4783455"/>
            <a:ext cx="2103120" cy="2571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0" lv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indent="0" lvl="1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indent="0" lvl="2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indent="0" lvl="3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indent="0" lvl="4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indent="0" lvl="5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indent="0" lvl="6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indent="0" lvl="7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indent="0" lvl="8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>
  <p:cSld name="Two Content">
    <p:spTree>
      <p:nvGrpSpPr>
        <p:cNvPr id="42" name="Shape 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Google Shape;43;p27"/>
          <p:cNvSpPr txBox="1"/>
          <p:nvPr>
            <p:ph type="title"/>
          </p:nvPr>
        </p:nvSpPr>
        <p:spPr>
          <a:xfrm>
            <a:off x="1370525" y="544033"/>
            <a:ext cx="6859168" cy="39115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2400">
                <a:solidFill>
                  <a:srgbClr val="37761C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4" name="Google Shape;44;p27"/>
          <p:cNvSpPr txBox="1"/>
          <p:nvPr>
            <p:ph idx="1" type="body"/>
          </p:nvPr>
        </p:nvSpPr>
        <p:spPr>
          <a:xfrm>
            <a:off x="457200" y="1183005"/>
            <a:ext cx="3977640" cy="339471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5" name="Google Shape;45;p27"/>
          <p:cNvSpPr txBox="1"/>
          <p:nvPr>
            <p:ph idx="2" type="body"/>
          </p:nvPr>
        </p:nvSpPr>
        <p:spPr>
          <a:xfrm>
            <a:off x="4709160" y="1183005"/>
            <a:ext cx="3977640" cy="339471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6" name="Google Shape;46;p27"/>
          <p:cNvSpPr txBox="1"/>
          <p:nvPr>
            <p:ph idx="11" type="ftr"/>
          </p:nvPr>
        </p:nvSpPr>
        <p:spPr>
          <a:xfrm>
            <a:off x="3108960" y="4783455"/>
            <a:ext cx="2926080" cy="2571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888888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27"/>
          <p:cNvSpPr txBox="1"/>
          <p:nvPr>
            <p:ph idx="10" type="dt"/>
          </p:nvPr>
        </p:nvSpPr>
        <p:spPr>
          <a:xfrm>
            <a:off x="457200" y="4783455"/>
            <a:ext cx="2103120" cy="2571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888888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27"/>
          <p:cNvSpPr txBox="1"/>
          <p:nvPr>
            <p:ph idx="12" type="sldNum"/>
          </p:nvPr>
        </p:nvSpPr>
        <p:spPr>
          <a:xfrm>
            <a:off x="6583680" y="4783455"/>
            <a:ext cx="2103120" cy="2571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0" lv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indent="0" lvl="1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indent="0" lvl="2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indent="0" lvl="3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indent="0" lvl="4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indent="0" lvl="5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indent="0" lvl="6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indent="0" lvl="7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indent="0" lvl="8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image" Target="../media/image2.jpg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22"/>
          <p:cNvSpPr/>
          <p:nvPr/>
        </p:nvSpPr>
        <p:spPr>
          <a:xfrm>
            <a:off x="0" y="0"/>
            <a:ext cx="9144000" cy="5143500"/>
          </a:xfrm>
          <a:custGeom>
            <a:rect b="b" l="l" r="r" t="t"/>
            <a:pathLst>
              <a:path extrusionOk="0" h="5143500" w="9144000">
                <a:moveTo>
                  <a:pt x="9143999" y="5143499"/>
                </a:moveTo>
                <a:lnTo>
                  <a:pt x="0" y="5143499"/>
                </a:lnTo>
                <a:lnTo>
                  <a:pt x="0" y="0"/>
                </a:lnTo>
                <a:lnTo>
                  <a:pt x="9143999" y="0"/>
                </a:lnTo>
                <a:lnTo>
                  <a:pt x="9143999" y="5143499"/>
                </a:lnTo>
                <a:close/>
              </a:path>
            </a:pathLst>
          </a:custGeom>
          <a:solidFill>
            <a:srgbClr val="D9EAD3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</p:txBody>
      </p:sp>
      <p:pic>
        <p:nvPicPr>
          <p:cNvPr id="7" name="Google Shape;7;p22"/>
          <p:cNvPicPr preferRelativeResize="0"/>
          <p:nvPr/>
        </p:nvPicPr>
        <p:blipFill rotWithShape="1">
          <a:blip r:embed="rId1">
            <a:alphaModFix/>
          </a:blip>
          <a:srcRect b="0" l="0" r="0" t="0"/>
          <a:stretch/>
        </p:blipFill>
        <p:spPr>
          <a:xfrm>
            <a:off x="0" y="0"/>
            <a:ext cx="1589535" cy="393600"/>
          </a:xfrm>
          <a:prstGeom prst="rect">
            <a:avLst/>
          </a:prstGeom>
          <a:noFill/>
          <a:ln>
            <a:noFill/>
          </a:ln>
        </p:spPr>
      </p:pic>
      <p:sp>
        <p:nvSpPr>
          <p:cNvPr id="8" name="Google Shape;8;p22"/>
          <p:cNvSpPr/>
          <p:nvPr/>
        </p:nvSpPr>
        <p:spPr>
          <a:xfrm>
            <a:off x="0" y="381000"/>
            <a:ext cx="808990" cy="808990"/>
          </a:xfrm>
          <a:custGeom>
            <a:rect b="b" l="l" r="r" t="t"/>
            <a:pathLst>
              <a:path extrusionOk="0" h="808990" w="808990">
                <a:moveTo>
                  <a:pt x="808799" y="808799"/>
                </a:moveTo>
                <a:lnTo>
                  <a:pt x="404399" y="808799"/>
                </a:lnTo>
                <a:lnTo>
                  <a:pt x="0" y="404399"/>
                </a:lnTo>
                <a:lnTo>
                  <a:pt x="0" y="0"/>
                </a:lnTo>
                <a:lnTo>
                  <a:pt x="808799" y="808799"/>
                </a:lnTo>
                <a:close/>
              </a:path>
            </a:pathLst>
          </a:custGeom>
          <a:solidFill>
            <a:srgbClr val="6AA84F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</p:txBody>
      </p:sp>
      <p:sp>
        <p:nvSpPr>
          <p:cNvPr id="9" name="Google Shape;9;p22"/>
          <p:cNvSpPr/>
          <p:nvPr/>
        </p:nvSpPr>
        <p:spPr>
          <a:xfrm>
            <a:off x="229049" y="588488"/>
            <a:ext cx="808990" cy="808990"/>
          </a:xfrm>
          <a:custGeom>
            <a:rect b="b" l="l" r="r" t="t"/>
            <a:pathLst>
              <a:path extrusionOk="0" h="808990" w="808990">
                <a:moveTo>
                  <a:pt x="808799" y="808799"/>
                </a:moveTo>
                <a:lnTo>
                  <a:pt x="0" y="0"/>
                </a:lnTo>
                <a:lnTo>
                  <a:pt x="404399" y="0"/>
                </a:lnTo>
                <a:lnTo>
                  <a:pt x="808799" y="404399"/>
                </a:lnTo>
                <a:lnTo>
                  <a:pt x="808799" y="808799"/>
                </a:lnTo>
                <a:close/>
              </a:path>
            </a:pathLst>
          </a:custGeom>
          <a:solidFill>
            <a:srgbClr val="37761C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</p:txBody>
      </p:sp>
      <p:sp>
        <p:nvSpPr>
          <p:cNvPr id="10" name="Google Shape;10;p22"/>
          <p:cNvSpPr txBox="1"/>
          <p:nvPr>
            <p:ph type="title"/>
          </p:nvPr>
        </p:nvSpPr>
        <p:spPr>
          <a:xfrm>
            <a:off x="1370525" y="544033"/>
            <a:ext cx="6859168" cy="39115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2400" u="none" cap="none" strike="noStrike">
                <a:solidFill>
                  <a:srgbClr val="37761C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11" name="Google Shape;11;p22"/>
          <p:cNvSpPr txBox="1"/>
          <p:nvPr>
            <p:ph idx="1" type="body"/>
          </p:nvPr>
        </p:nvSpPr>
        <p:spPr>
          <a:xfrm>
            <a:off x="1445767" y="1603999"/>
            <a:ext cx="6555105" cy="236029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rgbClr val="274E13"/>
                </a:solidFill>
                <a:latin typeface="Tahoma"/>
                <a:ea typeface="Tahoma"/>
                <a:cs typeface="Tahoma"/>
                <a:sym typeface="Tahoma"/>
              </a:defRPr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2" name="Google Shape;12;p22"/>
          <p:cNvSpPr txBox="1"/>
          <p:nvPr>
            <p:ph idx="11" type="ftr"/>
          </p:nvPr>
        </p:nvSpPr>
        <p:spPr>
          <a:xfrm>
            <a:off x="3108960" y="4783455"/>
            <a:ext cx="2926080" cy="2571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rgbClr val="888888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13" name="Google Shape;13;p22"/>
          <p:cNvSpPr txBox="1"/>
          <p:nvPr>
            <p:ph idx="10" type="dt"/>
          </p:nvPr>
        </p:nvSpPr>
        <p:spPr>
          <a:xfrm>
            <a:off x="457200" y="4783455"/>
            <a:ext cx="2103120" cy="2571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rgbClr val="888888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14" name="Google Shape;14;p22"/>
          <p:cNvSpPr txBox="1"/>
          <p:nvPr>
            <p:ph idx="12" type="sldNum"/>
          </p:nvPr>
        </p:nvSpPr>
        <p:spPr>
          <a:xfrm>
            <a:off x="6583680" y="4783455"/>
            <a:ext cx="2103120" cy="2571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0" lvl="0" algn="r">
              <a:spcBef>
                <a:spcPts val="0"/>
              </a:spcBef>
              <a:buNone/>
              <a:defRPr sz="1800">
                <a:solidFill>
                  <a:srgbClr val="888888"/>
                </a:solidFill>
              </a:defRPr>
            </a:lvl1pPr>
            <a:lvl2pPr indent="0" lvl="1" algn="r">
              <a:spcBef>
                <a:spcPts val="0"/>
              </a:spcBef>
              <a:buNone/>
              <a:defRPr sz="1800">
                <a:solidFill>
                  <a:srgbClr val="888888"/>
                </a:solidFill>
              </a:defRPr>
            </a:lvl2pPr>
            <a:lvl3pPr indent="0" lvl="2" algn="r">
              <a:spcBef>
                <a:spcPts val="0"/>
              </a:spcBef>
              <a:buNone/>
              <a:defRPr sz="1800">
                <a:solidFill>
                  <a:srgbClr val="888888"/>
                </a:solidFill>
              </a:defRPr>
            </a:lvl3pPr>
            <a:lvl4pPr indent="0" lvl="3" algn="r">
              <a:spcBef>
                <a:spcPts val="0"/>
              </a:spcBef>
              <a:buNone/>
              <a:defRPr sz="1800">
                <a:solidFill>
                  <a:srgbClr val="888888"/>
                </a:solidFill>
              </a:defRPr>
            </a:lvl4pPr>
            <a:lvl5pPr indent="0" lvl="4" algn="r">
              <a:spcBef>
                <a:spcPts val="0"/>
              </a:spcBef>
              <a:buNone/>
              <a:defRPr sz="1800">
                <a:solidFill>
                  <a:srgbClr val="888888"/>
                </a:solidFill>
              </a:defRPr>
            </a:lvl5pPr>
            <a:lvl6pPr indent="0" lvl="5" algn="r">
              <a:spcBef>
                <a:spcPts val="0"/>
              </a:spcBef>
              <a:buNone/>
              <a:defRPr sz="1800">
                <a:solidFill>
                  <a:srgbClr val="888888"/>
                </a:solidFill>
              </a:defRPr>
            </a:lvl6pPr>
            <a:lvl7pPr indent="0" lvl="6" algn="r">
              <a:spcBef>
                <a:spcPts val="0"/>
              </a:spcBef>
              <a:buNone/>
              <a:defRPr sz="1800">
                <a:solidFill>
                  <a:srgbClr val="888888"/>
                </a:solidFill>
              </a:defRPr>
            </a:lvl7pPr>
            <a:lvl8pPr indent="0" lvl="7" algn="r">
              <a:spcBef>
                <a:spcPts val="0"/>
              </a:spcBef>
              <a:buNone/>
              <a:defRPr sz="1800">
                <a:solidFill>
                  <a:srgbClr val="888888"/>
                </a:solidFill>
              </a:defRPr>
            </a:lvl8pPr>
            <a:lvl9pPr indent="0" lvl="8" algn="r">
              <a:spcBef>
                <a:spcPts val="0"/>
              </a:spcBef>
              <a:buNone/>
              <a:defRPr sz="1800">
                <a:solidFill>
                  <a:srgbClr val="888888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2"/>
    <p:sldLayoutId id="2147483650" r:id="rId3"/>
    <p:sldLayoutId id="2147483651" r:id="rId4"/>
    <p:sldLayoutId id="2147483652" r:id="rId5"/>
    <p:sldLayoutId id="2147483653" r:id="rId6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2.png"/><Relationship Id="rId4" Type="http://schemas.openxmlformats.org/officeDocument/2006/relationships/image" Target="../media/image3.jp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1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7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20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4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5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19.png"/><Relationship Id="rId4" Type="http://schemas.openxmlformats.org/officeDocument/2006/relationships/image" Target="../media/image13.png"/><Relationship Id="rId5" Type="http://schemas.openxmlformats.org/officeDocument/2006/relationships/image" Target="../media/image10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14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6.jp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9.pn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16.png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15.png"/><Relationship Id="rId4" Type="http://schemas.openxmlformats.org/officeDocument/2006/relationships/image" Target="../media/image18.png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0.xml"/><Relationship Id="rId3" Type="http://schemas.openxmlformats.org/officeDocument/2006/relationships/image" Target="../media/image17.png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1.xml"/><Relationship Id="rId3" Type="http://schemas.openxmlformats.org/officeDocument/2006/relationships/image" Target="../media/image8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2" name="Shape 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Google Shape;53;p1"/>
          <p:cNvSpPr txBox="1"/>
          <p:nvPr>
            <p:ph type="title"/>
          </p:nvPr>
        </p:nvSpPr>
        <p:spPr>
          <a:xfrm>
            <a:off x="1447800" y="361950"/>
            <a:ext cx="7391400" cy="87459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/>
              <a:t>The Power of Statistics: Cricket as a Case Study</a:t>
            </a:r>
            <a:endParaRPr sz="2800"/>
          </a:p>
        </p:txBody>
      </p:sp>
      <p:sp>
        <p:nvSpPr>
          <p:cNvPr id="54" name="Google Shape;54;p1"/>
          <p:cNvSpPr txBox="1"/>
          <p:nvPr/>
        </p:nvSpPr>
        <p:spPr>
          <a:xfrm>
            <a:off x="3124200" y="1657350"/>
            <a:ext cx="5791200" cy="11208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Statistics is the science that deals with methodologies to gather, review, analyse and draw conclusions from data. It's a tool we use knowingly or unknowingly in various real-world scenarios.</a:t>
            </a:r>
            <a:endParaRPr sz="1800">
              <a:latin typeface="Tahoma"/>
              <a:ea typeface="Tahoma"/>
              <a:cs typeface="Tahoma"/>
              <a:sym typeface="Tahoma"/>
            </a:endParaRPr>
          </a:p>
        </p:txBody>
      </p:sp>
      <p:pic>
        <p:nvPicPr>
          <p:cNvPr id="55" name="Google Shape;55;p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85800" y="3198972"/>
            <a:ext cx="3048000" cy="1743710"/>
          </a:xfrm>
          <a:prstGeom prst="rect">
            <a:avLst/>
          </a:prstGeom>
          <a:noFill/>
          <a:ln>
            <a:noFill/>
          </a:ln>
        </p:spPr>
      </p:pic>
      <p:pic>
        <p:nvPicPr>
          <p:cNvPr id="56" name="Google Shape;56;p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724400" y="3198972"/>
            <a:ext cx="3276600" cy="174864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0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p2"/>
          <p:cNvSpPr txBox="1"/>
          <p:nvPr/>
        </p:nvSpPr>
        <p:spPr>
          <a:xfrm>
            <a:off x="228600" y="1352550"/>
            <a:ext cx="4724400" cy="375487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400">
                <a:solidFill>
                  <a:srgbClr val="374151"/>
                </a:solidFill>
                <a:latin typeface="Nunito"/>
                <a:ea typeface="Nunito"/>
                <a:cs typeface="Nunito"/>
                <a:sym typeface="Nunito"/>
              </a:rPr>
              <a:t>Definition:</a:t>
            </a:r>
            <a:endParaRPr b="1" sz="14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400">
              <a:solidFill>
                <a:srgbClr val="374151"/>
              </a:solidFill>
              <a:latin typeface="Nunito"/>
              <a:ea typeface="Nunito"/>
              <a:cs typeface="Nunito"/>
              <a:sym typeface="Nunito"/>
            </a:endParaRPr>
          </a:p>
          <a:p>
            <a:pPr indent="0" lvl="1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400">
                <a:solidFill>
                  <a:srgbClr val="374151"/>
                </a:solidFill>
                <a:latin typeface="Nunito"/>
                <a:ea typeface="Nunito"/>
                <a:cs typeface="Nunito"/>
                <a:sym typeface="Nunito"/>
              </a:rPr>
              <a:t>Statistics is the process of collecting, organizing, analyzing, interpreting, and presenting data to understand patterns and make informed decisions</a:t>
            </a:r>
            <a:endParaRPr b="1" sz="1400">
              <a:solidFill>
                <a:srgbClr val="000000"/>
              </a:solidFill>
              <a:latin typeface="Nunito"/>
              <a:ea typeface="Nunito"/>
              <a:cs typeface="Nunito"/>
              <a:sym typeface="Nuni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rgbClr val="374151"/>
              </a:solidFill>
              <a:latin typeface="Nunito"/>
              <a:ea typeface="Nunito"/>
              <a:cs typeface="Nunito"/>
              <a:sym typeface="Nuni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rgbClr val="374151"/>
                </a:solidFill>
                <a:latin typeface="Nunito"/>
                <a:ea typeface="Nunito"/>
                <a:cs typeface="Nunito"/>
                <a:sym typeface="Nunito"/>
              </a:rPr>
              <a:t>The importance and significance of statistics lie in its ability to: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rgbClr val="374151"/>
              </a:solidFill>
              <a:latin typeface="Nunito"/>
              <a:ea typeface="Nunito"/>
              <a:cs typeface="Nunito"/>
              <a:sym typeface="Nunito"/>
            </a:endParaRPr>
          </a:p>
          <a:p>
            <a:pPr indent="-342900" lvl="1" marL="800100" rtl="0" algn="l">
              <a:spcBef>
                <a:spcPts val="0"/>
              </a:spcBef>
              <a:spcAft>
                <a:spcPts val="0"/>
              </a:spcAft>
              <a:buClr>
                <a:srgbClr val="374151"/>
              </a:buClr>
              <a:buSzPts val="1400"/>
              <a:buFont typeface="Arial"/>
              <a:buChar char="•"/>
            </a:pPr>
            <a:r>
              <a:rPr lang="en-US" sz="1400">
                <a:solidFill>
                  <a:srgbClr val="374151"/>
                </a:solidFill>
                <a:latin typeface="Nunito"/>
                <a:ea typeface="Nunito"/>
                <a:cs typeface="Nunito"/>
                <a:sym typeface="Nunito"/>
              </a:rPr>
              <a:t>Informs decisions.</a:t>
            </a:r>
            <a:endParaRPr/>
          </a:p>
          <a:p>
            <a:pPr indent="-342900" lvl="1" marL="800100" rtl="0" algn="l">
              <a:spcBef>
                <a:spcPts val="0"/>
              </a:spcBef>
              <a:spcAft>
                <a:spcPts val="0"/>
              </a:spcAft>
              <a:buClr>
                <a:srgbClr val="374151"/>
              </a:buClr>
              <a:buSzPts val="1400"/>
              <a:buFont typeface="Arial"/>
              <a:buChar char="•"/>
            </a:pPr>
            <a:r>
              <a:rPr lang="en-US" sz="1400">
                <a:solidFill>
                  <a:srgbClr val="374151"/>
                </a:solidFill>
                <a:latin typeface="Nunito"/>
                <a:ea typeface="Nunito"/>
                <a:cs typeface="Nunito"/>
                <a:sym typeface="Nunito"/>
              </a:rPr>
              <a:t>Manages uncertainty.</a:t>
            </a:r>
            <a:endParaRPr/>
          </a:p>
          <a:p>
            <a:pPr indent="-342900" lvl="1" marL="800100" rtl="0" algn="l">
              <a:spcBef>
                <a:spcPts val="0"/>
              </a:spcBef>
              <a:spcAft>
                <a:spcPts val="0"/>
              </a:spcAft>
              <a:buClr>
                <a:srgbClr val="374151"/>
              </a:buClr>
              <a:buSzPts val="1400"/>
              <a:buFont typeface="Arial"/>
              <a:buChar char="•"/>
            </a:pPr>
            <a:r>
              <a:rPr lang="en-US" sz="1400">
                <a:solidFill>
                  <a:srgbClr val="374151"/>
                </a:solidFill>
                <a:latin typeface="Nunito"/>
                <a:ea typeface="Nunito"/>
                <a:cs typeface="Nunito"/>
                <a:sym typeface="Nunito"/>
              </a:rPr>
              <a:t>Spotlights trends.</a:t>
            </a:r>
            <a:endParaRPr/>
          </a:p>
          <a:p>
            <a:pPr indent="-342900" lvl="1" marL="800100" rtl="0" algn="l">
              <a:spcBef>
                <a:spcPts val="0"/>
              </a:spcBef>
              <a:spcAft>
                <a:spcPts val="0"/>
              </a:spcAft>
              <a:buClr>
                <a:srgbClr val="374151"/>
              </a:buClr>
              <a:buSzPts val="1400"/>
              <a:buFont typeface="Arial"/>
              <a:buChar char="•"/>
            </a:pPr>
            <a:r>
              <a:rPr lang="en-US" sz="1400">
                <a:solidFill>
                  <a:srgbClr val="374151"/>
                </a:solidFill>
                <a:latin typeface="Nunito"/>
                <a:ea typeface="Nunito"/>
                <a:cs typeface="Nunito"/>
                <a:sym typeface="Nunito"/>
              </a:rPr>
              <a:t>Aids research.</a:t>
            </a:r>
            <a:endParaRPr/>
          </a:p>
          <a:p>
            <a:pPr indent="-342900" lvl="1" marL="800100" rtl="0" algn="l">
              <a:spcBef>
                <a:spcPts val="0"/>
              </a:spcBef>
              <a:spcAft>
                <a:spcPts val="0"/>
              </a:spcAft>
              <a:buClr>
                <a:srgbClr val="374151"/>
              </a:buClr>
              <a:buSzPts val="1400"/>
              <a:buFont typeface="Arial"/>
              <a:buChar char="•"/>
            </a:pPr>
            <a:r>
              <a:rPr lang="en-US" sz="1400">
                <a:solidFill>
                  <a:srgbClr val="374151"/>
                </a:solidFill>
                <a:latin typeface="Nunito"/>
                <a:ea typeface="Nunito"/>
                <a:cs typeface="Nunito"/>
                <a:sym typeface="Nunito"/>
              </a:rPr>
              <a:t>Ensures quality.</a:t>
            </a:r>
            <a:endParaRPr/>
          </a:p>
          <a:p>
            <a:pPr indent="-342900" lvl="1" marL="800100" rtl="0" algn="l">
              <a:spcBef>
                <a:spcPts val="0"/>
              </a:spcBef>
              <a:spcAft>
                <a:spcPts val="0"/>
              </a:spcAft>
              <a:buClr>
                <a:srgbClr val="374151"/>
              </a:buClr>
              <a:buSzPts val="1400"/>
              <a:buFont typeface="Arial"/>
              <a:buChar char="•"/>
            </a:pPr>
            <a:r>
              <a:rPr lang="en-US" sz="1400">
                <a:solidFill>
                  <a:srgbClr val="374151"/>
                </a:solidFill>
                <a:latin typeface="Nunito"/>
                <a:ea typeface="Nunito"/>
                <a:cs typeface="Nunito"/>
                <a:sym typeface="Nunito"/>
              </a:rPr>
              <a:t>Shapes policies.</a:t>
            </a:r>
            <a:endParaRPr/>
          </a:p>
          <a:p>
            <a:pPr indent="-342900" lvl="1" marL="800100" rtl="0" algn="l">
              <a:spcBef>
                <a:spcPts val="0"/>
              </a:spcBef>
              <a:spcAft>
                <a:spcPts val="0"/>
              </a:spcAft>
              <a:buClr>
                <a:srgbClr val="374151"/>
              </a:buClr>
              <a:buSzPts val="1400"/>
              <a:buFont typeface="Arial"/>
              <a:buChar char="•"/>
            </a:pPr>
            <a:r>
              <a:rPr lang="en-US" sz="1400">
                <a:solidFill>
                  <a:srgbClr val="374151"/>
                </a:solidFill>
                <a:latin typeface="Nunito"/>
                <a:ea typeface="Nunito"/>
                <a:cs typeface="Nunito"/>
                <a:sym typeface="Nunito"/>
              </a:rPr>
              <a:t>Drives business.</a:t>
            </a:r>
            <a:endParaRPr/>
          </a:p>
          <a:p>
            <a:pPr indent="-342900" lvl="1" marL="800100" rtl="0" algn="l">
              <a:spcBef>
                <a:spcPts val="0"/>
              </a:spcBef>
              <a:spcAft>
                <a:spcPts val="0"/>
              </a:spcAft>
              <a:buClr>
                <a:srgbClr val="374151"/>
              </a:buClr>
              <a:buSzPts val="1400"/>
              <a:buFont typeface="Arial"/>
              <a:buChar char="•"/>
            </a:pPr>
            <a:r>
              <a:rPr lang="en-US" sz="1400">
                <a:solidFill>
                  <a:srgbClr val="374151"/>
                </a:solidFill>
                <a:latin typeface="Nunito"/>
                <a:ea typeface="Nunito"/>
                <a:cs typeface="Nunito"/>
                <a:sym typeface="Nunito"/>
              </a:rPr>
              <a:t>Guides healthcare</a:t>
            </a:r>
            <a:endParaRPr/>
          </a:p>
        </p:txBody>
      </p:sp>
      <p:pic>
        <p:nvPicPr>
          <p:cNvPr descr="A diagram of a decision making process&#10;&#10;Description automatically generated" id="62" name="Google Shape;62;p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419600" y="1123950"/>
            <a:ext cx="4724400" cy="3734301"/>
          </a:xfrm>
          <a:prstGeom prst="rect">
            <a:avLst/>
          </a:prstGeom>
          <a:noFill/>
          <a:ln>
            <a:noFill/>
          </a:ln>
        </p:spPr>
      </p:pic>
      <p:sp>
        <p:nvSpPr>
          <p:cNvPr id="63" name="Google Shape;63;p2"/>
          <p:cNvSpPr txBox="1"/>
          <p:nvPr/>
        </p:nvSpPr>
        <p:spPr>
          <a:xfrm>
            <a:off x="2362200" y="431066"/>
            <a:ext cx="7391400" cy="44371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800">
                <a:solidFill>
                  <a:srgbClr val="244061"/>
                </a:solidFill>
                <a:latin typeface="Nunito"/>
                <a:ea typeface="Nunito"/>
                <a:cs typeface="Nunito"/>
                <a:sym typeface="Nunito"/>
              </a:rPr>
              <a:t>Introduction to Statistics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7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p3"/>
          <p:cNvSpPr txBox="1"/>
          <p:nvPr/>
        </p:nvSpPr>
        <p:spPr>
          <a:xfrm>
            <a:off x="521066" y="1352550"/>
            <a:ext cx="8101868" cy="397031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rgbClr val="374151"/>
                </a:solidFill>
              </a:rPr>
              <a:t>There are two main types of statistics:</a:t>
            </a:r>
            <a:endParaRPr sz="14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rgbClr val="37415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400">
                <a:solidFill>
                  <a:srgbClr val="374151"/>
                </a:solidFill>
              </a:rPr>
              <a:t>Descriptive Statistics: </a:t>
            </a:r>
            <a:endParaRPr b="1" sz="1400">
              <a:solidFill>
                <a:srgbClr val="000000"/>
              </a:solidFill>
            </a:endParaRPr>
          </a:p>
          <a:p>
            <a:pPr indent="-342900" lvl="1" marL="800100" rtl="0" algn="l">
              <a:spcBef>
                <a:spcPts val="0"/>
              </a:spcBef>
              <a:spcAft>
                <a:spcPts val="0"/>
              </a:spcAft>
              <a:buClr>
                <a:srgbClr val="374151"/>
              </a:buClr>
              <a:buSzPts val="1400"/>
              <a:buFont typeface="Arial"/>
              <a:buChar char="•"/>
            </a:pPr>
            <a:r>
              <a:rPr lang="en-US" sz="1400">
                <a:solidFill>
                  <a:srgbClr val="374151"/>
                </a:solidFill>
              </a:rPr>
              <a:t>Involve summarizing and presenting data to describe its main features.</a:t>
            </a:r>
            <a:endParaRPr sz="1400">
              <a:solidFill>
                <a:srgbClr val="000000"/>
              </a:solidFill>
            </a:endParaRPr>
          </a:p>
          <a:p>
            <a:pPr indent="-342900" lvl="1" marL="800100" rtl="0" algn="l">
              <a:spcBef>
                <a:spcPts val="0"/>
              </a:spcBef>
              <a:spcAft>
                <a:spcPts val="0"/>
              </a:spcAft>
              <a:buClr>
                <a:srgbClr val="374151"/>
              </a:buClr>
              <a:buSzPts val="1400"/>
              <a:buFont typeface="Arial"/>
              <a:buChar char="•"/>
            </a:pPr>
            <a:r>
              <a:rPr lang="en-US" sz="1400">
                <a:solidFill>
                  <a:srgbClr val="374151"/>
                </a:solidFill>
              </a:rPr>
              <a:t>This includes measures such as </a:t>
            </a:r>
            <a:r>
              <a:rPr b="1" lang="en-US" sz="1400">
                <a:solidFill>
                  <a:srgbClr val="374151"/>
                </a:solidFill>
              </a:rPr>
              <a:t>mean, median, mode, range, variance, and standard deviation</a:t>
            </a:r>
            <a:r>
              <a:rPr lang="en-US" sz="1400">
                <a:solidFill>
                  <a:srgbClr val="374151"/>
                </a:solidFill>
              </a:rPr>
              <a:t>.</a:t>
            </a:r>
            <a:endParaRPr sz="1400">
              <a:solidFill>
                <a:srgbClr val="000000"/>
              </a:solidFill>
            </a:endParaRPr>
          </a:p>
          <a:p>
            <a:pPr indent="-342900" lvl="1" marL="800100" rtl="0" algn="l">
              <a:spcBef>
                <a:spcPts val="0"/>
              </a:spcBef>
              <a:spcAft>
                <a:spcPts val="0"/>
              </a:spcAft>
              <a:buClr>
                <a:srgbClr val="374151"/>
              </a:buClr>
              <a:buSzPts val="1400"/>
              <a:buFont typeface="Arial"/>
              <a:buChar char="•"/>
            </a:pPr>
            <a:r>
              <a:rPr lang="en-US" sz="1400">
                <a:solidFill>
                  <a:srgbClr val="374151"/>
                </a:solidFill>
              </a:rPr>
              <a:t>Descriptive statistics are used to gain insights into data and understand its characteristics.</a:t>
            </a:r>
            <a:endParaRPr sz="14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rgbClr val="37415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400">
                <a:solidFill>
                  <a:srgbClr val="374151"/>
                </a:solidFill>
              </a:rPr>
              <a:t>Inferential Statistics: </a:t>
            </a:r>
            <a:endParaRPr b="1" sz="1400">
              <a:solidFill>
                <a:srgbClr val="000000"/>
              </a:solidFill>
            </a:endParaRPr>
          </a:p>
          <a:p>
            <a:pPr indent="-342900" lvl="1" marL="800100" rtl="0" algn="l">
              <a:spcBef>
                <a:spcPts val="0"/>
              </a:spcBef>
              <a:spcAft>
                <a:spcPts val="0"/>
              </a:spcAft>
              <a:buClr>
                <a:srgbClr val="374151"/>
              </a:buClr>
              <a:buSzPts val="1400"/>
              <a:buFont typeface="Arial"/>
              <a:buChar char="•"/>
            </a:pPr>
            <a:r>
              <a:rPr lang="en-US" sz="1400">
                <a:solidFill>
                  <a:srgbClr val="374151"/>
                </a:solidFill>
              </a:rPr>
              <a:t>Involve making predictions, inferences, or generalizations about a larger population based on a sample of data. I</a:t>
            </a:r>
            <a:endParaRPr sz="1400">
              <a:solidFill>
                <a:srgbClr val="000000"/>
              </a:solidFill>
            </a:endParaRPr>
          </a:p>
          <a:p>
            <a:pPr indent="-342900" lvl="1" marL="800100" rtl="0" algn="l">
              <a:spcBef>
                <a:spcPts val="0"/>
              </a:spcBef>
              <a:spcAft>
                <a:spcPts val="0"/>
              </a:spcAft>
              <a:buClr>
                <a:srgbClr val="374151"/>
              </a:buClr>
              <a:buSzPts val="1400"/>
              <a:buFont typeface="Arial"/>
              <a:buChar char="•"/>
            </a:pPr>
            <a:r>
              <a:rPr lang="en-US" sz="1400">
                <a:solidFill>
                  <a:srgbClr val="374151"/>
                </a:solidFill>
              </a:rPr>
              <a:t>includes techniques like </a:t>
            </a:r>
            <a:r>
              <a:rPr b="1" lang="en-US" sz="1400">
                <a:solidFill>
                  <a:srgbClr val="374151"/>
                </a:solidFill>
              </a:rPr>
              <a:t>hypothesis testing, confidence intervals, and regression analysis</a:t>
            </a:r>
            <a:r>
              <a:rPr lang="en-US" sz="1400">
                <a:solidFill>
                  <a:srgbClr val="374151"/>
                </a:solidFill>
              </a:rPr>
              <a:t>. Inferential statistics help us draw conclusions beyond the data we have collected.</a:t>
            </a:r>
            <a:endParaRPr sz="1400"/>
          </a:p>
          <a:p>
            <a:pPr indent="0" lvl="1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rgbClr val="37415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rgbClr val="374151"/>
                </a:solidFill>
              </a:rPr>
              <a:t>These two types of statistics work together to help us analyze and understand data in a comprehensive manner.</a:t>
            </a:r>
            <a:endParaRPr sz="14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400">
              <a:solidFill>
                <a:srgbClr val="374151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  <p:sp>
        <p:nvSpPr>
          <p:cNvPr id="69" name="Google Shape;69;p3"/>
          <p:cNvSpPr txBox="1"/>
          <p:nvPr/>
        </p:nvSpPr>
        <p:spPr>
          <a:xfrm>
            <a:off x="3200400" y="361950"/>
            <a:ext cx="3124200" cy="44371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800">
                <a:solidFill>
                  <a:srgbClr val="244061"/>
                </a:solidFill>
                <a:latin typeface="Nunito"/>
                <a:ea typeface="Nunito"/>
                <a:cs typeface="Nunito"/>
                <a:sym typeface="Nunito"/>
              </a:rPr>
              <a:t>Types of Statistics</a:t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3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p4"/>
          <p:cNvSpPr txBox="1"/>
          <p:nvPr/>
        </p:nvSpPr>
        <p:spPr>
          <a:xfrm>
            <a:off x="587921" y="1199632"/>
            <a:ext cx="8403679" cy="206210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285750" lvl="0" marL="285750" rtl="0" algn="l">
              <a:spcBef>
                <a:spcPts val="0"/>
              </a:spcBef>
              <a:spcAft>
                <a:spcPts val="0"/>
              </a:spcAft>
              <a:buClr>
                <a:srgbClr val="374151"/>
              </a:buClr>
              <a:buSzPts val="1600"/>
              <a:buFont typeface="Arial"/>
              <a:buChar char="•"/>
            </a:pPr>
            <a:r>
              <a:rPr b="1" lang="en-US" sz="1600">
                <a:solidFill>
                  <a:srgbClr val="374151"/>
                </a:solidFill>
                <a:latin typeface="Nunito"/>
                <a:ea typeface="Nunito"/>
                <a:cs typeface="Nunito"/>
                <a:sym typeface="Nunito"/>
              </a:rPr>
              <a:t>Population:</a:t>
            </a:r>
            <a:endParaRPr sz="1600">
              <a:latin typeface="Nunito"/>
              <a:ea typeface="Nunito"/>
              <a:cs typeface="Nunito"/>
              <a:sym typeface="Nunito"/>
            </a:endParaRPr>
          </a:p>
          <a:p>
            <a:pPr indent="-285750" lvl="1" marL="742950" rtl="0" algn="l">
              <a:spcBef>
                <a:spcPts val="0"/>
              </a:spcBef>
              <a:spcAft>
                <a:spcPts val="0"/>
              </a:spcAft>
              <a:buClr>
                <a:srgbClr val="374151"/>
              </a:buClr>
              <a:buSzPts val="1600"/>
              <a:buFont typeface="Arial"/>
              <a:buChar char="•"/>
            </a:pPr>
            <a:r>
              <a:rPr lang="en-US" sz="1600">
                <a:solidFill>
                  <a:srgbClr val="374151"/>
                </a:solidFill>
                <a:latin typeface="Nunito"/>
                <a:ea typeface="Nunito"/>
                <a:cs typeface="Nunito"/>
                <a:sym typeface="Nunito"/>
              </a:rPr>
              <a:t>The entire group you want to study.</a:t>
            </a:r>
            <a:endParaRPr sz="1600">
              <a:latin typeface="Nunito"/>
              <a:ea typeface="Nunito"/>
              <a:cs typeface="Nunito"/>
              <a:sym typeface="Nunito"/>
            </a:endParaRPr>
          </a:p>
          <a:p>
            <a:pPr indent="-285750" lvl="1" marL="742950" rtl="0" algn="l">
              <a:spcBef>
                <a:spcPts val="0"/>
              </a:spcBef>
              <a:spcAft>
                <a:spcPts val="0"/>
              </a:spcAft>
              <a:buClr>
                <a:srgbClr val="374151"/>
              </a:buClr>
              <a:buSzPts val="1600"/>
              <a:buFont typeface="Arial"/>
              <a:buChar char="•"/>
            </a:pPr>
            <a:r>
              <a:rPr b="1" lang="en-US" sz="1600">
                <a:solidFill>
                  <a:srgbClr val="374151"/>
                </a:solidFill>
                <a:latin typeface="Nunito"/>
                <a:ea typeface="Nunito"/>
                <a:cs typeface="Nunito"/>
                <a:sym typeface="Nunito"/>
              </a:rPr>
              <a:t>Example:</a:t>
            </a:r>
            <a:r>
              <a:rPr lang="en-US" sz="1600">
                <a:solidFill>
                  <a:srgbClr val="374151"/>
                </a:solidFill>
                <a:latin typeface="Nunito"/>
                <a:ea typeface="Nunito"/>
                <a:cs typeface="Nunito"/>
                <a:sym typeface="Nunito"/>
              </a:rPr>
              <a:t> All households in a country for studying average income.</a:t>
            </a:r>
            <a:endParaRPr sz="1600">
              <a:latin typeface="Nunito"/>
              <a:ea typeface="Nunito"/>
              <a:cs typeface="Nunito"/>
              <a:sym typeface="Nunito"/>
            </a:endParaRPr>
          </a:p>
          <a:p>
            <a:pPr indent="-184150" lvl="1" marL="742950" rtl="0" algn="l">
              <a:spcBef>
                <a:spcPts val="0"/>
              </a:spcBef>
              <a:spcAft>
                <a:spcPts val="0"/>
              </a:spcAft>
              <a:buSzPts val="1600"/>
              <a:buFont typeface="Arial"/>
              <a:buNone/>
            </a:pPr>
            <a:r>
              <a:t/>
            </a:r>
            <a:endParaRPr sz="1600">
              <a:solidFill>
                <a:srgbClr val="374151"/>
              </a:solidFill>
              <a:latin typeface="Nunito"/>
              <a:ea typeface="Nunito"/>
              <a:cs typeface="Nunito"/>
              <a:sym typeface="Nunito"/>
            </a:endParaRPr>
          </a:p>
          <a:p>
            <a:pPr indent="-285750" lvl="0" marL="285750" rtl="0" algn="l">
              <a:spcBef>
                <a:spcPts val="0"/>
              </a:spcBef>
              <a:spcAft>
                <a:spcPts val="0"/>
              </a:spcAft>
              <a:buClr>
                <a:srgbClr val="374151"/>
              </a:buClr>
              <a:buSzPts val="1600"/>
              <a:buFont typeface="Arial"/>
              <a:buChar char="•"/>
            </a:pPr>
            <a:r>
              <a:rPr b="1" lang="en-US" sz="1600">
                <a:solidFill>
                  <a:srgbClr val="374151"/>
                </a:solidFill>
                <a:latin typeface="Nunito"/>
                <a:ea typeface="Nunito"/>
                <a:cs typeface="Nunito"/>
                <a:sym typeface="Nunito"/>
              </a:rPr>
              <a:t>Sample:</a:t>
            </a:r>
            <a:endParaRPr sz="1600">
              <a:latin typeface="Nunito"/>
              <a:ea typeface="Nunito"/>
              <a:cs typeface="Nunito"/>
              <a:sym typeface="Nunito"/>
            </a:endParaRPr>
          </a:p>
          <a:p>
            <a:pPr indent="-285750" lvl="1" marL="742950" rtl="0" algn="l">
              <a:spcBef>
                <a:spcPts val="0"/>
              </a:spcBef>
              <a:spcAft>
                <a:spcPts val="0"/>
              </a:spcAft>
              <a:buClr>
                <a:srgbClr val="374151"/>
              </a:buClr>
              <a:buSzPts val="1600"/>
              <a:buFont typeface="Arial"/>
              <a:buChar char="•"/>
            </a:pPr>
            <a:r>
              <a:rPr lang="en-US" sz="1600">
                <a:solidFill>
                  <a:srgbClr val="374151"/>
                </a:solidFill>
                <a:latin typeface="Nunito"/>
                <a:ea typeface="Nunito"/>
                <a:cs typeface="Nunito"/>
                <a:sym typeface="Nunito"/>
              </a:rPr>
              <a:t>A smaller, representative subset from the population.</a:t>
            </a:r>
            <a:endParaRPr sz="1600">
              <a:latin typeface="Nunito"/>
              <a:ea typeface="Nunito"/>
              <a:cs typeface="Nunito"/>
              <a:sym typeface="Nunito"/>
            </a:endParaRPr>
          </a:p>
          <a:p>
            <a:pPr indent="-285750" lvl="1" marL="742950" rtl="0" algn="l">
              <a:spcBef>
                <a:spcPts val="0"/>
              </a:spcBef>
              <a:spcAft>
                <a:spcPts val="0"/>
              </a:spcAft>
              <a:buClr>
                <a:srgbClr val="374151"/>
              </a:buClr>
              <a:buSzPts val="1600"/>
              <a:buFont typeface="Arial"/>
              <a:buChar char="•"/>
            </a:pPr>
            <a:r>
              <a:rPr b="1" lang="en-US" sz="1600">
                <a:solidFill>
                  <a:srgbClr val="374151"/>
                </a:solidFill>
                <a:latin typeface="Nunito"/>
                <a:ea typeface="Nunito"/>
                <a:cs typeface="Nunito"/>
                <a:sym typeface="Nunito"/>
              </a:rPr>
              <a:t>Example: </a:t>
            </a:r>
            <a:r>
              <a:rPr lang="en-US" sz="1600">
                <a:solidFill>
                  <a:srgbClr val="374151"/>
                </a:solidFill>
                <a:latin typeface="Nunito"/>
                <a:ea typeface="Nunito"/>
                <a:cs typeface="Nunito"/>
                <a:sym typeface="Nunito"/>
              </a:rPr>
              <a:t>Surveying a selected group of households to estimate average income, saving time and resources.</a:t>
            </a:r>
            <a:endParaRPr/>
          </a:p>
        </p:txBody>
      </p:sp>
      <p:pic>
        <p:nvPicPr>
          <p:cNvPr descr="A diagram of a sample&#10;&#10;Description automatically generated" id="75" name="Google Shape;75;p4"/>
          <p:cNvPicPr preferRelativeResize="0"/>
          <p:nvPr/>
        </p:nvPicPr>
        <p:blipFill rotWithShape="1">
          <a:blip r:embed="rId3">
            <a:alphaModFix/>
          </a:blip>
          <a:srcRect b="5340" l="11226" r="12569" t="0"/>
          <a:stretch/>
        </p:blipFill>
        <p:spPr>
          <a:xfrm>
            <a:off x="3962400" y="3261735"/>
            <a:ext cx="4191000" cy="1708016"/>
          </a:xfrm>
          <a:prstGeom prst="rect">
            <a:avLst/>
          </a:prstGeom>
          <a:noFill/>
          <a:ln>
            <a:noFill/>
          </a:ln>
        </p:spPr>
      </p:pic>
      <p:sp>
        <p:nvSpPr>
          <p:cNvPr id="76" name="Google Shape;76;p4"/>
          <p:cNvSpPr txBox="1"/>
          <p:nvPr/>
        </p:nvSpPr>
        <p:spPr>
          <a:xfrm>
            <a:off x="2895600" y="361950"/>
            <a:ext cx="3886200" cy="44371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800">
                <a:solidFill>
                  <a:srgbClr val="244061"/>
                </a:solidFill>
                <a:latin typeface="Nunito"/>
                <a:ea typeface="Nunito"/>
                <a:cs typeface="Nunito"/>
                <a:sym typeface="Nunito"/>
              </a:rPr>
              <a:t>Population Vs Sample</a:t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1" name="Google Shape;81;p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09600" y="1581150"/>
            <a:ext cx="8339516" cy="3389948"/>
          </a:xfrm>
          <a:prstGeom prst="rect">
            <a:avLst/>
          </a:prstGeom>
          <a:noFill/>
          <a:ln>
            <a:noFill/>
          </a:ln>
        </p:spPr>
      </p:pic>
      <p:sp>
        <p:nvSpPr>
          <p:cNvPr id="82" name="Google Shape;82;p5"/>
          <p:cNvSpPr txBox="1"/>
          <p:nvPr/>
        </p:nvSpPr>
        <p:spPr>
          <a:xfrm>
            <a:off x="3200400" y="361950"/>
            <a:ext cx="3124200" cy="44371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800">
                <a:solidFill>
                  <a:srgbClr val="244061"/>
                </a:solidFill>
                <a:latin typeface="Nunito"/>
                <a:ea typeface="Nunito"/>
                <a:cs typeface="Nunito"/>
                <a:sym typeface="Nunito"/>
              </a:rPr>
              <a:t>Types of Data</a:t>
            </a:r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6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A diagram of data types&#10;&#10;Description automatically generated" id="87" name="Google Shape;87;p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295400" y="1276350"/>
            <a:ext cx="6248400" cy="3711333"/>
          </a:xfrm>
          <a:prstGeom prst="rect">
            <a:avLst/>
          </a:prstGeom>
          <a:noFill/>
          <a:ln>
            <a:noFill/>
          </a:ln>
        </p:spPr>
      </p:pic>
      <p:sp>
        <p:nvSpPr>
          <p:cNvPr id="88" name="Google Shape;88;p6"/>
          <p:cNvSpPr txBox="1"/>
          <p:nvPr/>
        </p:nvSpPr>
        <p:spPr>
          <a:xfrm>
            <a:off x="3200400" y="361950"/>
            <a:ext cx="2514600" cy="44371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800">
                <a:solidFill>
                  <a:srgbClr val="244061"/>
                </a:solidFill>
                <a:latin typeface="Nunito"/>
                <a:ea typeface="Nunito"/>
                <a:cs typeface="Nunito"/>
                <a:sym typeface="Nunito"/>
              </a:rPr>
              <a:t>Types of Data</a:t>
            </a:r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2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3" name="Google Shape;93;p7"/>
          <p:cNvGrpSpPr/>
          <p:nvPr/>
        </p:nvGrpSpPr>
        <p:grpSpPr>
          <a:xfrm>
            <a:off x="1066800" y="742950"/>
            <a:ext cx="7848600" cy="3962400"/>
            <a:chOff x="2109196" y="961899"/>
            <a:chExt cx="8746561" cy="4767741"/>
          </a:xfrm>
        </p:grpSpPr>
        <p:grpSp>
          <p:nvGrpSpPr>
            <p:cNvPr id="94" name="Google Shape;94;p7"/>
            <p:cNvGrpSpPr/>
            <p:nvPr/>
          </p:nvGrpSpPr>
          <p:grpSpPr>
            <a:xfrm>
              <a:off x="2109196" y="2515097"/>
              <a:ext cx="8746561" cy="3214543"/>
              <a:chOff x="1720725" y="1912470"/>
              <a:chExt cx="8746561" cy="3214543"/>
            </a:xfrm>
          </p:grpSpPr>
          <p:grpSp>
            <p:nvGrpSpPr>
              <p:cNvPr id="95" name="Google Shape;95;p7"/>
              <p:cNvGrpSpPr/>
              <p:nvPr/>
            </p:nvGrpSpPr>
            <p:grpSpPr>
              <a:xfrm>
                <a:off x="6352490" y="1912470"/>
                <a:ext cx="4114796" cy="3214543"/>
                <a:chOff x="6452098" y="1912470"/>
                <a:chExt cx="4114796" cy="3214543"/>
              </a:xfrm>
            </p:grpSpPr>
            <p:sp>
              <p:nvSpPr>
                <p:cNvPr id="96" name="Google Shape;96;p7"/>
                <p:cNvSpPr/>
                <p:nvPr/>
              </p:nvSpPr>
              <p:spPr>
                <a:xfrm>
                  <a:off x="6452098" y="1912470"/>
                  <a:ext cx="3077880" cy="786903"/>
                </a:xfrm>
                <a:prstGeom prst="roundRect">
                  <a:avLst>
                    <a:gd fmla="val 16667" name="adj"/>
                  </a:avLst>
                </a:prstGeom>
                <a:solidFill>
                  <a:schemeClr val="accent1"/>
                </a:solidFill>
                <a:ln cap="flat" cmpd="sng" w="25400">
                  <a:solidFill>
                    <a:srgbClr val="21364F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rPr lang="en-US" sz="2400">
                      <a:solidFill>
                        <a:schemeClr val="lt1"/>
                      </a:solidFill>
                      <a:latin typeface="Calibri"/>
                      <a:ea typeface="Calibri"/>
                      <a:cs typeface="Calibri"/>
                      <a:sym typeface="Calibri"/>
                    </a:rPr>
                    <a:t>Measure of Central Dispersion</a:t>
                  </a:r>
                  <a:endParaRPr/>
                </a:p>
              </p:txBody>
            </p:sp>
            <p:cxnSp>
              <p:nvCxnSpPr>
                <p:cNvPr id="97" name="Google Shape;97;p7"/>
                <p:cNvCxnSpPr/>
                <p:nvPr/>
              </p:nvCxnSpPr>
              <p:spPr>
                <a:xfrm>
                  <a:off x="7038290" y="2518583"/>
                  <a:ext cx="22909" cy="2423457"/>
                </a:xfrm>
                <a:prstGeom prst="straightConnector1">
                  <a:avLst/>
                </a:prstGeom>
                <a:noFill/>
                <a:ln cap="flat" cmpd="sng" w="25400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  <a:effectLst>
                  <a:outerShdw blurRad="40000" rotWithShape="0" dir="5400000" dist="20000">
                    <a:srgbClr val="000000">
                      <a:alpha val="37647"/>
                    </a:srgbClr>
                  </a:outerShdw>
                </a:effectLst>
              </p:spPr>
            </p:cxnSp>
            <p:sp>
              <p:nvSpPr>
                <p:cNvPr id="98" name="Google Shape;98;p7"/>
                <p:cNvSpPr txBox="1"/>
                <p:nvPr/>
              </p:nvSpPr>
              <p:spPr>
                <a:xfrm>
                  <a:off x="7744010" y="3147607"/>
                  <a:ext cx="2743199" cy="36576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sp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rPr lang="en-US" sz="1800"/>
                    <a:t>Range</a:t>
                  </a:r>
                  <a:endParaRPr sz="1800"/>
                </a:p>
              </p:txBody>
            </p:sp>
            <p:sp>
              <p:nvSpPr>
                <p:cNvPr id="99" name="Google Shape;99;p7"/>
                <p:cNvSpPr txBox="1"/>
                <p:nvPr/>
              </p:nvSpPr>
              <p:spPr>
                <a:xfrm>
                  <a:off x="7744010" y="3660587"/>
                  <a:ext cx="2743199" cy="36576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sp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rPr lang="en-US" sz="1800"/>
                    <a:t>Standard Deviation</a:t>
                  </a:r>
                  <a:endParaRPr sz="1800"/>
                </a:p>
              </p:txBody>
            </p:sp>
            <p:sp>
              <p:nvSpPr>
                <p:cNvPr id="100" name="Google Shape;100;p7"/>
                <p:cNvSpPr txBox="1"/>
                <p:nvPr/>
              </p:nvSpPr>
              <p:spPr>
                <a:xfrm>
                  <a:off x="7744009" y="4213410"/>
                  <a:ext cx="2743199" cy="36576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sp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rPr lang="en-US" sz="1800"/>
                    <a:t>Variance</a:t>
                  </a:r>
                  <a:endParaRPr sz="1800"/>
                </a:p>
              </p:txBody>
            </p:sp>
            <p:sp>
              <p:nvSpPr>
                <p:cNvPr id="101" name="Google Shape;101;p7"/>
                <p:cNvSpPr txBox="1"/>
                <p:nvPr/>
              </p:nvSpPr>
              <p:spPr>
                <a:xfrm>
                  <a:off x="7823695" y="4761253"/>
                  <a:ext cx="2743199" cy="36576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sp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rPr lang="en-US" sz="1800"/>
                    <a:t>Interquartile Range (IQR)</a:t>
                  </a:r>
                  <a:endParaRPr sz="1800"/>
                </a:p>
              </p:txBody>
            </p:sp>
            <p:cxnSp>
              <p:nvCxnSpPr>
                <p:cNvPr id="102" name="Google Shape;102;p7"/>
                <p:cNvCxnSpPr/>
                <p:nvPr/>
              </p:nvCxnSpPr>
              <p:spPr>
                <a:xfrm flipH="1" rot="10800000">
                  <a:off x="7063503" y="3353606"/>
                  <a:ext cx="680320" cy="6975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rgbClr val="4A7DBA"/>
                  </a:solidFill>
                  <a:prstDash val="solid"/>
                  <a:round/>
                  <a:headEnd len="sm" w="sm" type="none"/>
                  <a:tailEnd len="med" w="med" type="triangle"/>
                </a:ln>
              </p:spPr>
            </p:cxnSp>
            <p:cxnSp>
              <p:nvCxnSpPr>
                <p:cNvPr id="103" name="Google Shape;103;p7"/>
                <p:cNvCxnSpPr/>
                <p:nvPr/>
              </p:nvCxnSpPr>
              <p:spPr>
                <a:xfrm flipH="1" rot="10800000">
                  <a:off x="7063503" y="3866586"/>
                  <a:ext cx="680320" cy="6975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rgbClr val="4A7DBA"/>
                  </a:solidFill>
                  <a:prstDash val="solid"/>
                  <a:round/>
                  <a:headEnd len="sm" w="sm" type="none"/>
                  <a:tailEnd len="med" w="med" type="triangle"/>
                </a:ln>
              </p:spPr>
            </p:cxnSp>
            <p:cxnSp>
              <p:nvCxnSpPr>
                <p:cNvPr id="104" name="Google Shape;104;p7"/>
                <p:cNvCxnSpPr/>
                <p:nvPr/>
              </p:nvCxnSpPr>
              <p:spPr>
                <a:xfrm flipH="1" rot="10800000">
                  <a:off x="7063502" y="4419409"/>
                  <a:ext cx="680320" cy="6975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rgbClr val="4A7DBA"/>
                  </a:solidFill>
                  <a:prstDash val="solid"/>
                  <a:round/>
                  <a:headEnd len="sm" w="sm" type="none"/>
                  <a:tailEnd len="med" w="med" type="triangle"/>
                </a:ln>
              </p:spPr>
            </p:cxnSp>
            <p:cxnSp>
              <p:nvCxnSpPr>
                <p:cNvPr id="105" name="Google Shape;105;p7"/>
                <p:cNvCxnSpPr/>
                <p:nvPr/>
              </p:nvCxnSpPr>
              <p:spPr>
                <a:xfrm flipH="1" rot="10800000">
                  <a:off x="7088405" y="4902508"/>
                  <a:ext cx="680320" cy="6975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rgbClr val="4A7DBA"/>
                  </a:solidFill>
                  <a:prstDash val="solid"/>
                  <a:round/>
                  <a:headEnd len="sm" w="sm" type="none"/>
                  <a:tailEnd len="med" w="med" type="triangle"/>
                </a:ln>
              </p:spPr>
            </p:cxnSp>
          </p:grpSp>
          <p:grpSp>
            <p:nvGrpSpPr>
              <p:cNvPr id="106" name="Google Shape;106;p7"/>
              <p:cNvGrpSpPr/>
              <p:nvPr/>
            </p:nvGrpSpPr>
            <p:grpSpPr>
              <a:xfrm>
                <a:off x="1720725" y="1912470"/>
                <a:ext cx="3077880" cy="2664793"/>
                <a:chOff x="1182843" y="1912470"/>
                <a:chExt cx="3077880" cy="2664793"/>
              </a:xfrm>
            </p:grpSpPr>
            <p:sp>
              <p:nvSpPr>
                <p:cNvPr id="107" name="Google Shape;107;p7"/>
                <p:cNvSpPr/>
                <p:nvPr/>
              </p:nvSpPr>
              <p:spPr>
                <a:xfrm>
                  <a:off x="1182843" y="1912470"/>
                  <a:ext cx="3077880" cy="786903"/>
                </a:xfrm>
                <a:prstGeom prst="roundRect">
                  <a:avLst>
                    <a:gd fmla="val 16667" name="adj"/>
                  </a:avLst>
                </a:prstGeom>
                <a:solidFill>
                  <a:schemeClr val="accent1"/>
                </a:solidFill>
                <a:ln cap="flat" cmpd="sng" w="25400">
                  <a:solidFill>
                    <a:srgbClr val="21364F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rPr lang="en-US" sz="2400">
                      <a:solidFill>
                        <a:schemeClr val="lt1"/>
                      </a:solidFill>
                      <a:latin typeface="Calibri"/>
                      <a:ea typeface="Calibri"/>
                      <a:cs typeface="Calibri"/>
                      <a:sym typeface="Calibri"/>
                    </a:rPr>
                    <a:t>Measure of Central Tendency</a:t>
                  </a:r>
                  <a:endParaRPr/>
                </a:p>
              </p:txBody>
            </p:sp>
            <p:cxnSp>
              <p:nvCxnSpPr>
                <p:cNvPr id="108" name="Google Shape;108;p7"/>
                <p:cNvCxnSpPr/>
                <p:nvPr/>
              </p:nvCxnSpPr>
              <p:spPr>
                <a:xfrm flipH="1">
                  <a:off x="1707280" y="2563408"/>
                  <a:ext cx="11952" cy="1835770"/>
                </a:xfrm>
                <a:prstGeom prst="straightConnector1">
                  <a:avLst/>
                </a:prstGeom>
                <a:noFill/>
                <a:ln cap="flat" cmpd="sng" w="25400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  <a:effectLst>
                  <a:outerShdw blurRad="40000" rotWithShape="0" dir="5400000" dist="20000">
                    <a:srgbClr val="000000">
                      <a:alpha val="37647"/>
                    </a:srgbClr>
                  </a:outerShdw>
                </a:effectLst>
              </p:spPr>
            </p:cxnSp>
            <p:sp>
              <p:nvSpPr>
                <p:cNvPr id="109" name="Google Shape;109;p7"/>
                <p:cNvSpPr txBox="1"/>
                <p:nvPr/>
              </p:nvSpPr>
              <p:spPr>
                <a:xfrm>
                  <a:off x="2449854" y="3142128"/>
                  <a:ext cx="1317811" cy="369332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sp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rPr lang="en-US" sz="1800"/>
                    <a:t>Mean</a:t>
                  </a:r>
                  <a:endParaRPr sz="1800"/>
                </a:p>
              </p:txBody>
            </p:sp>
            <p:sp>
              <p:nvSpPr>
                <p:cNvPr id="110" name="Google Shape;110;p7"/>
                <p:cNvSpPr txBox="1"/>
                <p:nvPr/>
              </p:nvSpPr>
              <p:spPr>
                <a:xfrm>
                  <a:off x="2395069" y="4207931"/>
                  <a:ext cx="1317811" cy="369332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sp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rPr lang="en-US" sz="1800"/>
                    <a:t>Mode</a:t>
                  </a:r>
                  <a:endParaRPr/>
                </a:p>
              </p:txBody>
            </p:sp>
            <p:sp>
              <p:nvSpPr>
                <p:cNvPr id="111" name="Google Shape;111;p7"/>
                <p:cNvSpPr txBox="1"/>
                <p:nvPr/>
              </p:nvSpPr>
              <p:spPr>
                <a:xfrm>
                  <a:off x="2449854" y="3660088"/>
                  <a:ext cx="1317811" cy="369332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sp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rPr lang="en-US" sz="1800"/>
                    <a:t>Median</a:t>
                  </a:r>
                  <a:endParaRPr sz="1800"/>
                </a:p>
              </p:txBody>
            </p:sp>
            <p:cxnSp>
              <p:nvCxnSpPr>
                <p:cNvPr id="112" name="Google Shape;112;p7"/>
                <p:cNvCxnSpPr/>
                <p:nvPr/>
              </p:nvCxnSpPr>
              <p:spPr>
                <a:xfrm flipH="1" rot="10800000">
                  <a:off x="1714561" y="3353606"/>
                  <a:ext cx="680320" cy="6975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rgbClr val="4A7DBA"/>
                  </a:solidFill>
                  <a:prstDash val="solid"/>
                  <a:round/>
                  <a:headEnd len="sm" w="sm" type="none"/>
                  <a:tailEnd len="med" w="med" type="triangle"/>
                </a:ln>
              </p:spPr>
            </p:cxnSp>
            <p:cxnSp>
              <p:nvCxnSpPr>
                <p:cNvPr id="113" name="Google Shape;113;p7"/>
                <p:cNvCxnSpPr/>
                <p:nvPr/>
              </p:nvCxnSpPr>
              <p:spPr>
                <a:xfrm flipH="1" rot="10800000">
                  <a:off x="1714561" y="3811802"/>
                  <a:ext cx="680320" cy="6975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rgbClr val="4A7DBA"/>
                  </a:solidFill>
                  <a:prstDash val="solid"/>
                  <a:round/>
                  <a:headEnd len="sm" w="sm" type="none"/>
                  <a:tailEnd len="med" w="med" type="triangle"/>
                </a:ln>
              </p:spPr>
            </p:cxnSp>
            <p:cxnSp>
              <p:nvCxnSpPr>
                <p:cNvPr id="114" name="Google Shape;114;p7"/>
                <p:cNvCxnSpPr/>
                <p:nvPr/>
              </p:nvCxnSpPr>
              <p:spPr>
                <a:xfrm flipH="1" rot="10800000">
                  <a:off x="1684678" y="4359644"/>
                  <a:ext cx="680320" cy="6975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rgbClr val="4A7DBA"/>
                  </a:solidFill>
                  <a:prstDash val="solid"/>
                  <a:round/>
                  <a:headEnd len="sm" w="sm" type="none"/>
                  <a:tailEnd len="med" w="med" type="triangle"/>
                </a:ln>
              </p:spPr>
            </p:cxnSp>
          </p:grpSp>
        </p:grpSp>
        <p:cxnSp>
          <p:nvCxnSpPr>
            <p:cNvPr id="115" name="Google Shape;115;p7"/>
            <p:cNvCxnSpPr/>
            <p:nvPr/>
          </p:nvCxnSpPr>
          <p:spPr>
            <a:xfrm>
              <a:off x="6223685" y="961899"/>
              <a:ext cx="2069849" cy="1517026"/>
            </a:xfrm>
            <a:prstGeom prst="straightConnector1">
              <a:avLst/>
            </a:prstGeom>
            <a:noFill/>
            <a:ln cap="flat" cmpd="sng" w="9525">
              <a:solidFill>
                <a:srgbClr val="4A7DBA"/>
              </a:solidFill>
              <a:prstDash val="solid"/>
              <a:round/>
              <a:headEnd len="sm" w="sm" type="none"/>
              <a:tailEnd len="med" w="med" type="triangle"/>
            </a:ln>
          </p:spPr>
        </p:cxnSp>
        <p:cxnSp>
          <p:nvCxnSpPr>
            <p:cNvPr id="116" name="Google Shape;116;p7"/>
            <p:cNvCxnSpPr/>
            <p:nvPr/>
          </p:nvCxnSpPr>
          <p:spPr>
            <a:xfrm flipH="1">
              <a:off x="3905809" y="961899"/>
              <a:ext cx="1799915" cy="1467221"/>
            </a:xfrm>
            <a:prstGeom prst="straightConnector1">
              <a:avLst/>
            </a:prstGeom>
            <a:noFill/>
            <a:ln cap="flat" cmpd="sng" w="9525">
              <a:solidFill>
                <a:srgbClr val="4A7DBA"/>
              </a:solidFill>
              <a:prstDash val="solid"/>
              <a:round/>
              <a:headEnd len="sm" w="sm" type="none"/>
              <a:tailEnd len="med" w="med" type="triangle"/>
            </a:ln>
          </p:spPr>
        </p:cxnSp>
      </p:grpSp>
      <p:sp>
        <p:nvSpPr>
          <p:cNvPr id="117" name="Google Shape;117;p7"/>
          <p:cNvSpPr txBox="1"/>
          <p:nvPr/>
        </p:nvSpPr>
        <p:spPr>
          <a:xfrm>
            <a:off x="3196777" y="223975"/>
            <a:ext cx="3124200" cy="44371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800">
                <a:solidFill>
                  <a:srgbClr val="244061"/>
                </a:solidFill>
                <a:latin typeface="Nunito"/>
                <a:ea typeface="Nunito"/>
                <a:cs typeface="Nunito"/>
                <a:sym typeface="Nunito"/>
              </a:rPr>
              <a:t>Descriptive Stats</a:t>
            </a:r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Google Shape;122;p8"/>
          <p:cNvSpPr txBox="1"/>
          <p:nvPr/>
        </p:nvSpPr>
        <p:spPr>
          <a:xfrm>
            <a:off x="767215" y="1229515"/>
            <a:ext cx="8148186" cy="353943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>
              <a:solidFill>
                <a:srgbClr val="374151"/>
              </a:solidFill>
              <a:latin typeface="Nunito"/>
              <a:ea typeface="Nunito"/>
              <a:cs typeface="Nunito"/>
              <a:sym typeface="Nuni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600">
                <a:solidFill>
                  <a:srgbClr val="374151"/>
                </a:solidFill>
                <a:latin typeface="Nunito"/>
                <a:ea typeface="Nunito"/>
                <a:cs typeface="Nunito"/>
                <a:sym typeface="Nunito"/>
              </a:rPr>
              <a:t>Mean (Average):</a:t>
            </a:r>
            <a:endParaRPr sz="1600">
              <a:latin typeface="Nunito"/>
              <a:ea typeface="Nunito"/>
              <a:cs typeface="Nunito"/>
              <a:sym typeface="Nunito"/>
            </a:endParaRPr>
          </a:p>
          <a:p>
            <a:pPr indent="-285750" lvl="1" marL="742950" rtl="0" algn="l">
              <a:spcBef>
                <a:spcPts val="0"/>
              </a:spcBef>
              <a:spcAft>
                <a:spcPts val="0"/>
              </a:spcAft>
              <a:buClr>
                <a:srgbClr val="374151"/>
              </a:buClr>
              <a:buSzPts val="1600"/>
              <a:buFont typeface="Arial"/>
              <a:buChar char="•"/>
            </a:pPr>
            <a:r>
              <a:rPr b="1" lang="en-US" sz="1600">
                <a:solidFill>
                  <a:srgbClr val="374151"/>
                </a:solidFill>
                <a:latin typeface="Nunito"/>
                <a:ea typeface="Nunito"/>
                <a:cs typeface="Nunito"/>
                <a:sym typeface="Nunito"/>
              </a:rPr>
              <a:t>Definition:</a:t>
            </a:r>
            <a:r>
              <a:rPr lang="en-US" sz="1600">
                <a:solidFill>
                  <a:srgbClr val="374151"/>
                </a:solidFill>
                <a:latin typeface="Nunito"/>
                <a:ea typeface="Nunito"/>
                <a:cs typeface="Nunito"/>
                <a:sym typeface="Nunito"/>
              </a:rPr>
              <a:t> The mean is the sum of values divided by the count of values.</a:t>
            </a:r>
            <a:endParaRPr sz="1600">
              <a:latin typeface="Nunito"/>
              <a:ea typeface="Nunito"/>
              <a:cs typeface="Nunito"/>
              <a:sym typeface="Nunito"/>
            </a:endParaRPr>
          </a:p>
          <a:p>
            <a:pPr indent="-285750" lvl="1" marL="742950" rtl="0" algn="l">
              <a:spcBef>
                <a:spcPts val="0"/>
              </a:spcBef>
              <a:spcAft>
                <a:spcPts val="0"/>
              </a:spcAft>
              <a:buClr>
                <a:srgbClr val="374151"/>
              </a:buClr>
              <a:buSzPts val="1600"/>
              <a:buFont typeface="Arial"/>
              <a:buChar char="•"/>
            </a:pPr>
            <a:r>
              <a:rPr b="1" lang="en-US" sz="1600">
                <a:solidFill>
                  <a:srgbClr val="374151"/>
                </a:solidFill>
                <a:latin typeface="Nunito"/>
                <a:ea typeface="Nunito"/>
                <a:cs typeface="Nunito"/>
                <a:sym typeface="Nunito"/>
              </a:rPr>
              <a:t>Example:</a:t>
            </a:r>
            <a:r>
              <a:rPr lang="en-US" sz="1600">
                <a:solidFill>
                  <a:srgbClr val="374151"/>
                </a:solidFill>
                <a:latin typeface="Nunito"/>
                <a:ea typeface="Nunito"/>
                <a:cs typeface="Nunito"/>
                <a:sym typeface="Nunito"/>
              </a:rPr>
              <a:t> For the numbers 3, 5, and 7, the mean is (3 + 5 + 7) / 3 = 5.</a:t>
            </a:r>
            <a:endParaRPr sz="1600">
              <a:latin typeface="Nunito"/>
              <a:ea typeface="Nunito"/>
              <a:cs typeface="Nunito"/>
              <a:sym typeface="Nunito"/>
            </a:endParaRPr>
          </a:p>
          <a:p>
            <a:pPr indent="-184150" lvl="1" marL="742950" rtl="0" algn="l">
              <a:spcBef>
                <a:spcPts val="0"/>
              </a:spcBef>
              <a:spcAft>
                <a:spcPts val="0"/>
              </a:spcAft>
              <a:buSzPts val="1600"/>
              <a:buFont typeface="Arial"/>
              <a:buNone/>
            </a:pPr>
            <a:r>
              <a:t/>
            </a:r>
            <a:endParaRPr sz="1600">
              <a:solidFill>
                <a:srgbClr val="374151"/>
              </a:solidFill>
              <a:latin typeface="Nunito"/>
              <a:ea typeface="Nunito"/>
              <a:cs typeface="Nunito"/>
              <a:sym typeface="Nuni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600">
                <a:solidFill>
                  <a:srgbClr val="374151"/>
                </a:solidFill>
                <a:latin typeface="Nunito"/>
                <a:ea typeface="Nunito"/>
                <a:cs typeface="Nunito"/>
                <a:sym typeface="Nunito"/>
              </a:rPr>
              <a:t>Median:</a:t>
            </a:r>
            <a:endParaRPr sz="1600">
              <a:latin typeface="Nunito"/>
              <a:ea typeface="Nunito"/>
              <a:cs typeface="Nunito"/>
              <a:sym typeface="Nunito"/>
            </a:endParaRPr>
          </a:p>
          <a:p>
            <a:pPr indent="-285750" lvl="1" marL="742950" rtl="0" algn="l">
              <a:spcBef>
                <a:spcPts val="0"/>
              </a:spcBef>
              <a:spcAft>
                <a:spcPts val="0"/>
              </a:spcAft>
              <a:buClr>
                <a:srgbClr val="374151"/>
              </a:buClr>
              <a:buSzPts val="1600"/>
              <a:buFont typeface="Arial"/>
              <a:buChar char="•"/>
            </a:pPr>
            <a:r>
              <a:rPr b="1" lang="en-US" sz="1600">
                <a:solidFill>
                  <a:srgbClr val="374151"/>
                </a:solidFill>
                <a:latin typeface="Nunito"/>
                <a:ea typeface="Nunito"/>
                <a:cs typeface="Nunito"/>
                <a:sym typeface="Nunito"/>
              </a:rPr>
              <a:t>Definition:</a:t>
            </a:r>
            <a:r>
              <a:rPr lang="en-US" sz="1600">
                <a:solidFill>
                  <a:srgbClr val="374151"/>
                </a:solidFill>
                <a:latin typeface="Nunito"/>
                <a:ea typeface="Nunito"/>
                <a:cs typeface="Nunito"/>
                <a:sym typeface="Nunito"/>
              </a:rPr>
              <a:t> The median is the middle value when data is ordered.</a:t>
            </a:r>
            <a:endParaRPr sz="1600">
              <a:latin typeface="Nunito"/>
              <a:ea typeface="Nunito"/>
              <a:cs typeface="Nunito"/>
              <a:sym typeface="Nunito"/>
            </a:endParaRPr>
          </a:p>
          <a:p>
            <a:pPr indent="-285750" lvl="1" marL="742950" rtl="0" algn="l">
              <a:spcBef>
                <a:spcPts val="0"/>
              </a:spcBef>
              <a:spcAft>
                <a:spcPts val="0"/>
              </a:spcAft>
              <a:buClr>
                <a:srgbClr val="374151"/>
              </a:buClr>
              <a:buSzPts val="1600"/>
              <a:buFont typeface="Arial"/>
              <a:buChar char="•"/>
            </a:pPr>
            <a:r>
              <a:rPr b="1" lang="en-US" sz="1600">
                <a:solidFill>
                  <a:srgbClr val="374151"/>
                </a:solidFill>
                <a:latin typeface="Nunito"/>
                <a:ea typeface="Nunito"/>
                <a:cs typeface="Nunito"/>
                <a:sym typeface="Nunito"/>
              </a:rPr>
              <a:t>Example:</a:t>
            </a:r>
            <a:r>
              <a:rPr lang="en-US" sz="1600">
                <a:solidFill>
                  <a:srgbClr val="374151"/>
                </a:solidFill>
                <a:latin typeface="Nunito"/>
                <a:ea typeface="Nunito"/>
                <a:cs typeface="Nunito"/>
                <a:sym typeface="Nunito"/>
              </a:rPr>
              <a:t> In the dataset 10, 20, 30, 40, 50, the median is 30.</a:t>
            </a:r>
            <a:endParaRPr sz="1600">
              <a:latin typeface="Nunito"/>
              <a:ea typeface="Nunito"/>
              <a:cs typeface="Nunito"/>
              <a:sym typeface="Nunito"/>
            </a:endParaRPr>
          </a:p>
          <a:p>
            <a:pPr indent="-184150" lvl="1" marL="742950" rtl="0" algn="l">
              <a:spcBef>
                <a:spcPts val="0"/>
              </a:spcBef>
              <a:spcAft>
                <a:spcPts val="0"/>
              </a:spcAft>
              <a:buSzPts val="1600"/>
              <a:buFont typeface="Arial"/>
              <a:buNone/>
            </a:pPr>
            <a:r>
              <a:t/>
            </a:r>
            <a:endParaRPr sz="1600">
              <a:solidFill>
                <a:srgbClr val="374151"/>
              </a:solidFill>
              <a:latin typeface="Nunito"/>
              <a:ea typeface="Nunito"/>
              <a:cs typeface="Nunito"/>
              <a:sym typeface="Nuni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600">
                <a:solidFill>
                  <a:srgbClr val="374151"/>
                </a:solidFill>
                <a:latin typeface="Nunito"/>
                <a:ea typeface="Nunito"/>
                <a:cs typeface="Nunito"/>
                <a:sym typeface="Nunito"/>
              </a:rPr>
              <a:t>Mode:</a:t>
            </a:r>
            <a:endParaRPr sz="1600">
              <a:latin typeface="Nunito"/>
              <a:ea typeface="Nunito"/>
              <a:cs typeface="Nunito"/>
              <a:sym typeface="Nunito"/>
            </a:endParaRPr>
          </a:p>
          <a:p>
            <a:pPr indent="-285750" lvl="1" marL="742950" rtl="0" algn="l">
              <a:spcBef>
                <a:spcPts val="0"/>
              </a:spcBef>
              <a:spcAft>
                <a:spcPts val="0"/>
              </a:spcAft>
              <a:buClr>
                <a:srgbClr val="374151"/>
              </a:buClr>
              <a:buSzPts val="1600"/>
              <a:buFont typeface="Arial"/>
              <a:buChar char="•"/>
            </a:pPr>
            <a:r>
              <a:rPr b="1" lang="en-US" sz="1600">
                <a:solidFill>
                  <a:srgbClr val="374151"/>
                </a:solidFill>
                <a:latin typeface="Nunito"/>
                <a:ea typeface="Nunito"/>
                <a:cs typeface="Nunito"/>
                <a:sym typeface="Nunito"/>
              </a:rPr>
              <a:t>Definition:</a:t>
            </a:r>
            <a:r>
              <a:rPr lang="en-US" sz="1600">
                <a:solidFill>
                  <a:srgbClr val="374151"/>
                </a:solidFill>
                <a:latin typeface="Nunito"/>
                <a:ea typeface="Nunito"/>
                <a:cs typeface="Nunito"/>
                <a:sym typeface="Nunito"/>
              </a:rPr>
              <a:t> The mode is the most frequent value in a dataset.</a:t>
            </a:r>
            <a:endParaRPr sz="1600">
              <a:latin typeface="Nunito"/>
              <a:ea typeface="Nunito"/>
              <a:cs typeface="Nunito"/>
              <a:sym typeface="Nunito"/>
            </a:endParaRPr>
          </a:p>
          <a:p>
            <a:pPr indent="-285750" lvl="1" marL="742950" rtl="0" algn="l">
              <a:spcBef>
                <a:spcPts val="0"/>
              </a:spcBef>
              <a:spcAft>
                <a:spcPts val="0"/>
              </a:spcAft>
              <a:buClr>
                <a:srgbClr val="374151"/>
              </a:buClr>
              <a:buSzPts val="1600"/>
              <a:buFont typeface="Arial"/>
              <a:buChar char="•"/>
            </a:pPr>
            <a:r>
              <a:rPr b="1" lang="en-US" sz="1600">
                <a:solidFill>
                  <a:srgbClr val="374151"/>
                </a:solidFill>
                <a:latin typeface="Nunito"/>
                <a:ea typeface="Nunito"/>
                <a:cs typeface="Nunito"/>
                <a:sym typeface="Nunito"/>
              </a:rPr>
              <a:t>Example:</a:t>
            </a:r>
            <a:r>
              <a:rPr lang="en-US" sz="1600">
                <a:solidFill>
                  <a:srgbClr val="374151"/>
                </a:solidFill>
                <a:latin typeface="Nunito"/>
                <a:ea typeface="Nunito"/>
                <a:cs typeface="Nunito"/>
                <a:sym typeface="Nunito"/>
              </a:rPr>
              <a:t> In the dataset 5, 8, 8, 10, 12, 12, 12, the mode is 12 as it appears most frequently.</a:t>
            </a:r>
            <a:endParaRPr sz="1600">
              <a:latin typeface="Nunito"/>
              <a:ea typeface="Nunito"/>
              <a:cs typeface="Nunito"/>
              <a:sym typeface="Nuni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600">
              <a:solidFill>
                <a:srgbClr val="374151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  <p:sp>
        <p:nvSpPr>
          <p:cNvPr id="123" name="Google Shape;123;p8"/>
          <p:cNvSpPr txBox="1"/>
          <p:nvPr/>
        </p:nvSpPr>
        <p:spPr>
          <a:xfrm>
            <a:off x="2783908" y="374555"/>
            <a:ext cx="4114800" cy="41139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12700">
            <a:spAutoFit/>
          </a:bodyPr>
          <a:lstStyle/>
          <a:p>
            <a:pPr indent="0" lvl="0" marL="127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244061"/>
              </a:buClr>
              <a:buSzPts val="2800"/>
              <a:buFont typeface="Nunito"/>
              <a:buNone/>
            </a:pPr>
            <a:r>
              <a:rPr b="1" lang="en-US" sz="2800">
                <a:solidFill>
                  <a:srgbClr val="244061"/>
                </a:solidFill>
                <a:latin typeface="Nunito"/>
                <a:ea typeface="Nunito"/>
                <a:cs typeface="Nunito"/>
                <a:sym typeface="Nunito"/>
              </a:rPr>
              <a:t>Measure of Dispersion</a:t>
            </a:r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7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p9"/>
          <p:cNvSpPr txBox="1"/>
          <p:nvPr/>
        </p:nvSpPr>
        <p:spPr>
          <a:xfrm>
            <a:off x="1295400" y="802035"/>
            <a:ext cx="7239000" cy="353943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600">
                <a:solidFill>
                  <a:srgbClr val="374151"/>
                </a:solidFill>
                <a:latin typeface="Nunito"/>
                <a:ea typeface="Nunito"/>
                <a:cs typeface="Nunito"/>
                <a:sym typeface="Nunito"/>
              </a:rPr>
              <a:t>Range:</a:t>
            </a:r>
            <a:endParaRPr sz="1600">
              <a:latin typeface="Nunito"/>
              <a:ea typeface="Nunito"/>
              <a:cs typeface="Nunito"/>
              <a:sym typeface="Nunito"/>
            </a:endParaRPr>
          </a:p>
          <a:p>
            <a:pPr indent="-285750" lvl="1" marL="742950" rtl="0" algn="l">
              <a:spcBef>
                <a:spcPts val="0"/>
              </a:spcBef>
              <a:spcAft>
                <a:spcPts val="0"/>
              </a:spcAft>
              <a:buClr>
                <a:srgbClr val="374151"/>
              </a:buClr>
              <a:buSzPts val="1600"/>
              <a:buFont typeface="Arial"/>
              <a:buChar char="•"/>
            </a:pPr>
            <a:r>
              <a:rPr b="1" lang="en-US" sz="1600">
                <a:solidFill>
                  <a:srgbClr val="374151"/>
                </a:solidFill>
                <a:latin typeface="Nunito"/>
                <a:ea typeface="Nunito"/>
                <a:cs typeface="Nunito"/>
                <a:sym typeface="Nunito"/>
              </a:rPr>
              <a:t>Definition:</a:t>
            </a:r>
            <a:r>
              <a:rPr lang="en-US" sz="1600">
                <a:solidFill>
                  <a:srgbClr val="374151"/>
                </a:solidFill>
                <a:latin typeface="Nunito"/>
                <a:ea typeface="Nunito"/>
                <a:cs typeface="Nunito"/>
                <a:sym typeface="Nunito"/>
              </a:rPr>
              <a:t> The range is the difference between the highest and lowest values in a dataset.</a:t>
            </a:r>
            <a:endParaRPr sz="1600">
              <a:latin typeface="Nunito"/>
              <a:ea typeface="Nunito"/>
              <a:cs typeface="Nunito"/>
              <a:sym typeface="Nunito"/>
            </a:endParaRPr>
          </a:p>
          <a:p>
            <a:pPr indent="-285750" lvl="1" marL="742950" rtl="0" algn="l">
              <a:spcBef>
                <a:spcPts val="0"/>
              </a:spcBef>
              <a:spcAft>
                <a:spcPts val="0"/>
              </a:spcAft>
              <a:buClr>
                <a:srgbClr val="374151"/>
              </a:buClr>
              <a:buSzPts val="1600"/>
              <a:buFont typeface="Arial"/>
              <a:buChar char="•"/>
            </a:pPr>
            <a:r>
              <a:rPr b="1" lang="en-US" sz="1600">
                <a:solidFill>
                  <a:srgbClr val="374151"/>
                </a:solidFill>
                <a:latin typeface="Nunito"/>
                <a:ea typeface="Nunito"/>
                <a:cs typeface="Nunito"/>
                <a:sym typeface="Nunito"/>
              </a:rPr>
              <a:t>Example:</a:t>
            </a:r>
            <a:r>
              <a:rPr lang="en-US" sz="1600">
                <a:solidFill>
                  <a:srgbClr val="374151"/>
                </a:solidFill>
                <a:latin typeface="Nunito"/>
                <a:ea typeface="Nunito"/>
                <a:cs typeface="Nunito"/>
                <a:sym typeface="Nunito"/>
              </a:rPr>
              <a:t> In the dataset {10, 15, 20, 25, 30}, the range is 30 - 10 = 20.</a:t>
            </a:r>
            <a:endParaRPr sz="1600">
              <a:latin typeface="Nunito"/>
              <a:ea typeface="Nunito"/>
              <a:cs typeface="Nunito"/>
              <a:sym typeface="Nunito"/>
            </a:endParaRPr>
          </a:p>
          <a:p>
            <a:pPr indent="-184150" lvl="1" marL="742950" rtl="0" algn="l">
              <a:spcBef>
                <a:spcPts val="0"/>
              </a:spcBef>
              <a:spcAft>
                <a:spcPts val="0"/>
              </a:spcAft>
              <a:buSzPts val="1600"/>
              <a:buFont typeface="Arial"/>
              <a:buNone/>
            </a:pPr>
            <a:r>
              <a:t/>
            </a:r>
            <a:endParaRPr sz="1600">
              <a:solidFill>
                <a:srgbClr val="374151"/>
              </a:solidFill>
              <a:latin typeface="Nunito"/>
              <a:ea typeface="Nunito"/>
              <a:cs typeface="Nunito"/>
              <a:sym typeface="Nuni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600">
                <a:solidFill>
                  <a:srgbClr val="374151"/>
                </a:solidFill>
                <a:latin typeface="Nunito"/>
                <a:ea typeface="Nunito"/>
                <a:cs typeface="Nunito"/>
                <a:sym typeface="Nunito"/>
              </a:rPr>
              <a:t>Standard Deviation:</a:t>
            </a:r>
            <a:endParaRPr sz="1600">
              <a:latin typeface="Nunito"/>
              <a:ea typeface="Nunito"/>
              <a:cs typeface="Nunito"/>
              <a:sym typeface="Nunito"/>
            </a:endParaRPr>
          </a:p>
          <a:p>
            <a:pPr indent="-285750" lvl="1" marL="742950" rtl="0" algn="l">
              <a:spcBef>
                <a:spcPts val="0"/>
              </a:spcBef>
              <a:spcAft>
                <a:spcPts val="0"/>
              </a:spcAft>
              <a:buClr>
                <a:srgbClr val="374151"/>
              </a:buClr>
              <a:buSzPts val="1600"/>
              <a:buFont typeface="Arial"/>
              <a:buChar char="•"/>
            </a:pPr>
            <a:r>
              <a:rPr b="1" lang="en-US" sz="1600">
                <a:solidFill>
                  <a:srgbClr val="374151"/>
                </a:solidFill>
                <a:latin typeface="Nunito"/>
                <a:ea typeface="Nunito"/>
                <a:cs typeface="Nunito"/>
                <a:sym typeface="Nunito"/>
              </a:rPr>
              <a:t>Definition:</a:t>
            </a:r>
            <a:r>
              <a:rPr lang="en-US" sz="1600">
                <a:solidFill>
                  <a:srgbClr val="374151"/>
                </a:solidFill>
                <a:latin typeface="Nunito"/>
                <a:ea typeface="Nunito"/>
                <a:cs typeface="Nunito"/>
                <a:sym typeface="Nunito"/>
              </a:rPr>
              <a:t> The standard deviation is the square root of variance, quantifying data spread around the mean.</a:t>
            </a:r>
            <a:endParaRPr sz="1600">
              <a:latin typeface="Nunito"/>
              <a:ea typeface="Nunito"/>
              <a:cs typeface="Nunito"/>
              <a:sym typeface="Nunito"/>
            </a:endParaRPr>
          </a:p>
          <a:p>
            <a:pPr indent="-285750" lvl="1" marL="742950" rtl="0" algn="l">
              <a:spcBef>
                <a:spcPts val="0"/>
              </a:spcBef>
              <a:spcAft>
                <a:spcPts val="0"/>
              </a:spcAft>
              <a:buClr>
                <a:srgbClr val="374151"/>
              </a:buClr>
              <a:buSzPts val="1600"/>
              <a:buFont typeface="Arial"/>
              <a:buChar char="•"/>
            </a:pPr>
            <a:r>
              <a:rPr b="1" lang="en-US" sz="1600">
                <a:solidFill>
                  <a:srgbClr val="374151"/>
                </a:solidFill>
                <a:latin typeface="Nunito"/>
                <a:ea typeface="Nunito"/>
                <a:cs typeface="Nunito"/>
                <a:sym typeface="Nunito"/>
              </a:rPr>
              <a:t>Example:</a:t>
            </a:r>
            <a:r>
              <a:rPr lang="en-US" sz="1600">
                <a:solidFill>
                  <a:srgbClr val="374151"/>
                </a:solidFill>
                <a:latin typeface="Nunito"/>
                <a:ea typeface="Nunito"/>
                <a:cs typeface="Nunito"/>
                <a:sym typeface="Nunito"/>
              </a:rPr>
              <a:t> In {12, 15, 18, 21, 24}, the standard deviation is approximately 4.5.</a:t>
            </a:r>
            <a:endParaRPr sz="1600">
              <a:latin typeface="Nunito"/>
              <a:ea typeface="Nunito"/>
              <a:cs typeface="Nunito"/>
              <a:sym typeface="Nunito"/>
            </a:endParaRPr>
          </a:p>
          <a:p>
            <a:pPr indent="0" lvl="1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>
              <a:solidFill>
                <a:srgbClr val="374151"/>
              </a:solidFill>
              <a:latin typeface="Nunito"/>
              <a:ea typeface="Nunito"/>
              <a:cs typeface="Nunito"/>
              <a:sym typeface="Nuni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600">
              <a:solidFill>
                <a:srgbClr val="374151"/>
              </a:solidFill>
              <a:latin typeface="Nunito"/>
              <a:ea typeface="Nunito"/>
              <a:cs typeface="Nunito"/>
              <a:sym typeface="Nuni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600">
              <a:solidFill>
                <a:srgbClr val="374151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  <p:pic>
        <p:nvPicPr>
          <p:cNvPr id="129" name="Google Shape;129;p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486400" y="3409950"/>
            <a:ext cx="3178983" cy="1600200"/>
          </a:xfrm>
          <a:prstGeom prst="rect">
            <a:avLst/>
          </a:prstGeom>
          <a:noFill/>
          <a:ln>
            <a:noFill/>
          </a:ln>
        </p:spPr>
      </p:pic>
      <p:sp>
        <p:nvSpPr>
          <p:cNvPr id="130" name="Google Shape;130;p9"/>
          <p:cNvSpPr txBox="1"/>
          <p:nvPr/>
        </p:nvSpPr>
        <p:spPr>
          <a:xfrm>
            <a:off x="2819400" y="285750"/>
            <a:ext cx="4114800" cy="41139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12700">
            <a:spAutoFit/>
          </a:bodyPr>
          <a:lstStyle/>
          <a:p>
            <a:pPr indent="0" lvl="0" marL="127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244061"/>
              </a:buClr>
              <a:buSzPts val="2800"/>
              <a:buFont typeface="Nunito"/>
              <a:buNone/>
            </a:pPr>
            <a:r>
              <a:rPr b="1" lang="en-US" sz="2800">
                <a:solidFill>
                  <a:srgbClr val="244061"/>
                </a:solidFill>
                <a:latin typeface="Nunito"/>
                <a:ea typeface="Nunito"/>
                <a:cs typeface="Nunito"/>
                <a:sym typeface="Nunito"/>
              </a:rPr>
              <a:t>Measure of Dispersion</a:t>
            </a:r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4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Google Shape;135;p10"/>
          <p:cNvSpPr txBox="1"/>
          <p:nvPr/>
        </p:nvSpPr>
        <p:spPr>
          <a:xfrm>
            <a:off x="838200" y="686364"/>
            <a:ext cx="6553200" cy="224676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400">
                <a:solidFill>
                  <a:srgbClr val="374151"/>
                </a:solidFill>
                <a:latin typeface="Nunito"/>
                <a:ea typeface="Nunito"/>
                <a:cs typeface="Nunito"/>
                <a:sym typeface="Nunito"/>
              </a:rPr>
              <a:t>Variance:</a:t>
            </a:r>
            <a:endParaRPr sz="1400">
              <a:latin typeface="Nunito"/>
              <a:ea typeface="Nunito"/>
              <a:cs typeface="Nunito"/>
              <a:sym typeface="Nunito"/>
            </a:endParaRPr>
          </a:p>
          <a:p>
            <a:pPr indent="-285750" lvl="1" marL="742950" rtl="0" algn="l">
              <a:spcBef>
                <a:spcPts val="0"/>
              </a:spcBef>
              <a:spcAft>
                <a:spcPts val="0"/>
              </a:spcAft>
              <a:buClr>
                <a:srgbClr val="374151"/>
              </a:buClr>
              <a:buSzPts val="1400"/>
              <a:buFont typeface="Arial"/>
              <a:buChar char="•"/>
            </a:pPr>
            <a:r>
              <a:rPr b="1" lang="en-US" sz="1400">
                <a:solidFill>
                  <a:srgbClr val="374151"/>
                </a:solidFill>
                <a:latin typeface="Nunito"/>
                <a:ea typeface="Nunito"/>
                <a:cs typeface="Nunito"/>
                <a:sym typeface="Nunito"/>
              </a:rPr>
              <a:t>Definition:</a:t>
            </a:r>
            <a:r>
              <a:rPr lang="en-US" sz="1400">
                <a:solidFill>
                  <a:srgbClr val="374151"/>
                </a:solidFill>
                <a:latin typeface="Nunito"/>
                <a:ea typeface="Nunito"/>
                <a:cs typeface="Nunito"/>
                <a:sym typeface="Nunito"/>
              </a:rPr>
              <a:t> Variance measures how data points differ from the mean by averaging the squared differences from the mean.</a:t>
            </a:r>
            <a:endParaRPr sz="1400">
              <a:latin typeface="Nunito"/>
              <a:ea typeface="Nunito"/>
              <a:cs typeface="Nunito"/>
              <a:sym typeface="Nunito"/>
            </a:endParaRPr>
          </a:p>
          <a:p>
            <a:pPr indent="-285750" lvl="1" marL="742950" rtl="0" algn="l">
              <a:spcBef>
                <a:spcPts val="0"/>
              </a:spcBef>
              <a:spcAft>
                <a:spcPts val="0"/>
              </a:spcAft>
              <a:buClr>
                <a:srgbClr val="374151"/>
              </a:buClr>
              <a:buSzPts val="1400"/>
              <a:buFont typeface="Arial"/>
              <a:buChar char="•"/>
            </a:pPr>
            <a:r>
              <a:rPr b="1" lang="en-US" sz="1400">
                <a:solidFill>
                  <a:srgbClr val="374151"/>
                </a:solidFill>
                <a:latin typeface="Nunito"/>
                <a:ea typeface="Nunito"/>
                <a:cs typeface="Nunito"/>
                <a:sym typeface="Nunito"/>
              </a:rPr>
              <a:t>Example:</a:t>
            </a:r>
            <a:r>
              <a:rPr lang="en-US" sz="1400">
                <a:solidFill>
                  <a:srgbClr val="374151"/>
                </a:solidFill>
                <a:latin typeface="Nunito"/>
                <a:ea typeface="Nunito"/>
                <a:cs typeface="Nunito"/>
                <a:sym typeface="Nunito"/>
              </a:rPr>
              <a:t> In the dataset {5, 10, 15, 20, 25}, the variance is approximately 41.67.</a:t>
            </a:r>
            <a:endParaRPr sz="1400">
              <a:latin typeface="Nunito"/>
              <a:ea typeface="Nunito"/>
              <a:cs typeface="Nunito"/>
              <a:sym typeface="Nunito"/>
            </a:endParaRPr>
          </a:p>
          <a:p>
            <a:pPr indent="-196850" lvl="1" marL="742950" rtl="0" algn="l">
              <a:spcBef>
                <a:spcPts val="0"/>
              </a:spcBef>
              <a:spcAft>
                <a:spcPts val="0"/>
              </a:spcAft>
              <a:buSzPts val="1400"/>
              <a:buFont typeface="Arial"/>
              <a:buNone/>
            </a:pPr>
            <a:r>
              <a:t/>
            </a:r>
            <a:endParaRPr sz="1400">
              <a:solidFill>
                <a:srgbClr val="374151"/>
              </a:solidFill>
              <a:latin typeface="Nunito"/>
              <a:ea typeface="Nunito"/>
              <a:cs typeface="Nunito"/>
              <a:sym typeface="Nuni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400">
                <a:solidFill>
                  <a:srgbClr val="374151"/>
                </a:solidFill>
                <a:latin typeface="Nunito"/>
                <a:ea typeface="Nunito"/>
                <a:cs typeface="Nunito"/>
                <a:sym typeface="Nunito"/>
              </a:rPr>
              <a:t>Interquartile Range (IQR):</a:t>
            </a:r>
            <a:endParaRPr sz="1400">
              <a:latin typeface="Nunito"/>
              <a:ea typeface="Nunito"/>
              <a:cs typeface="Nunito"/>
              <a:sym typeface="Nunito"/>
            </a:endParaRPr>
          </a:p>
          <a:p>
            <a:pPr indent="-285750" lvl="1" marL="742950" rtl="0" algn="l">
              <a:spcBef>
                <a:spcPts val="0"/>
              </a:spcBef>
              <a:spcAft>
                <a:spcPts val="0"/>
              </a:spcAft>
              <a:buClr>
                <a:srgbClr val="374151"/>
              </a:buClr>
              <a:buSzPts val="1400"/>
              <a:buFont typeface="Arial"/>
              <a:buChar char="•"/>
            </a:pPr>
            <a:r>
              <a:rPr b="1" lang="en-US" sz="1400">
                <a:solidFill>
                  <a:srgbClr val="374151"/>
                </a:solidFill>
                <a:latin typeface="Nunito"/>
                <a:ea typeface="Nunito"/>
                <a:cs typeface="Nunito"/>
                <a:sym typeface="Nunito"/>
              </a:rPr>
              <a:t>Definition:</a:t>
            </a:r>
            <a:r>
              <a:rPr lang="en-US" sz="1400">
                <a:solidFill>
                  <a:srgbClr val="374151"/>
                </a:solidFill>
                <a:latin typeface="Nunito"/>
                <a:ea typeface="Nunito"/>
                <a:cs typeface="Nunito"/>
                <a:sym typeface="Nunito"/>
              </a:rPr>
              <a:t> IQR is the range between the 75th and 25th percentiles, measuring the spread of the middle 50% of data.</a:t>
            </a:r>
            <a:endParaRPr sz="1400">
              <a:latin typeface="Nunito"/>
              <a:ea typeface="Nunito"/>
              <a:cs typeface="Nunito"/>
              <a:sym typeface="Nunito"/>
            </a:endParaRPr>
          </a:p>
          <a:p>
            <a:pPr indent="-285750" lvl="1" marL="742950" rtl="0" algn="l">
              <a:spcBef>
                <a:spcPts val="0"/>
              </a:spcBef>
              <a:spcAft>
                <a:spcPts val="0"/>
              </a:spcAft>
              <a:buClr>
                <a:srgbClr val="374151"/>
              </a:buClr>
              <a:buSzPts val="1400"/>
              <a:buFont typeface="Arial"/>
              <a:buChar char="•"/>
            </a:pPr>
            <a:r>
              <a:rPr b="1" lang="en-US" sz="1400">
                <a:solidFill>
                  <a:srgbClr val="374151"/>
                </a:solidFill>
                <a:latin typeface="Nunito"/>
                <a:ea typeface="Nunito"/>
                <a:cs typeface="Nunito"/>
                <a:sym typeface="Nunito"/>
              </a:rPr>
              <a:t>Example:</a:t>
            </a:r>
            <a:r>
              <a:rPr lang="en-US" sz="1400">
                <a:solidFill>
                  <a:srgbClr val="374151"/>
                </a:solidFill>
                <a:latin typeface="Nunito"/>
                <a:ea typeface="Nunito"/>
                <a:cs typeface="Nunito"/>
                <a:sym typeface="Nunito"/>
              </a:rPr>
              <a:t> In {10, 20, 30, 40, 50}, the IQR is 40 - 20 = 20.</a:t>
            </a:r>
            <a:endParaRPr sz="1400">
              <a:latin typeface="Nunito"/>
              <a:ea typeface="Nunito"/>
              <a:cs typeface="Nunito"/>
              <a:sym typeface="Nunito"/>
            </a:endParaRPr>
          </a:p>
        </p:txBody>
      </p:sp>
      <p:pic>
        <p:nvPicPr>
          <p:cNvPr descr="How to Find Interquartile Range (IQR) | Calculator &amp; Examples" id="136" name="Google Shape;136;p10"/>
          <p:cNvPicPr preferRelativeResize="0"/>
          <p:nvPr/>
        </p:nvPicPr>
        <p:blipFill rotWithShape="1">
          <a:blip r:embed="rId3">
            <a:alphaModFix/>
          </a:blip>
          <a:srcRect b="15875" l="0" r="118" t="0"/>
          <a:stretch/>
        </p:blipFill>
        <p:spPr>
          <a:xfrm>
            <a:off x="228600" y="3333751"/>
            <a:ext cx="3438462" cy="1524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nterQuartile Range (IQR) – Cloud Avenue" id="137" name="Google Shape;137;p1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031211" y="3333751"/>
            <a:ext cx="2891457" cy="1524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Sample Variance. It's also called the Unbiased estimate… | by Solomon Xie |  Statistical Guess | Medium" id="138" name="Google Shape;138;p10"/>
          <p:cNvPicPr preferRelativeResize="0"/>
          <p:nvPr/>
        </p:nvPicPr>
        <p:blipFill rotWithShape="1">
          <a:blip r:embed="rId5">
            <a:alphaModFix/>
          </a:blip>
          <a:srcRect b="32783" l="0" r="181" t="0"/>
          <a:stretch/>
        </p:blipFill>
        <p:spPr>
          <a:xfrm>
            <a:off x="6990885" y="3486150"/>
            <a:ext cx="2137212" cy="1115181"/>
          </a:xfrm>
          <a:prstGeom prst="rect">
            <a:avLst/>
          </a:prstGeom>
          <a:noFill/>
          <a:ln>
            <a:noFill/>
          </a:ln>
        </p:spPr>
      </p:pic>
      <p:sp>
        <p:nvSpPr>
          <p:cNvPr id="139" name="Google Shape;139;p10"/>
          <p:cNvSpPr txBox="1"/>
          <p:nvPr/>
        </p:nvSpPr>
        <p:spPr>
          <a:xfrm>
            <a:off x="2776063" y="280358"/>
            <a:ext cx="4114800" cy="41139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12700">
            <a:spAutoFit/>
          </a:bodyPr>
          <a:lstStyle/>
          <a:p>
            <a:pPr indent="0" lvl="0" marL="127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244061"/>
              </a:buClr>
              <a:buSzPts val="2800"/>
              <a:buFont typeface="Nunito"/>
              <a:buNone/>
            </a:pPr>
            <a:r>
              <a:rPr b="1" lang="en-US" sz="2800">
                <a:solidFill>
                  <a:srgbClr val="244061"/>
                </a:solidFill>
                <a:latin typeface="Nunito"/>
                <a:ea typeface="Nunito"/>
                <a:cs typeface="Nunito"/>
                <a:sym typeface="Nunito"/>
              </a:rPr>
              <a:t>Measure of Dispersion</a:t>
            </a:r>
            <a:endParaRPr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3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Understanding Boxplots - KDnuggets" id="144" name="Google Shape;144;p1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286435" y="1247818"/>
            <a:ext cx="6866966" cy="3433483"/>
          </a:xfrm>
          <a:prstGeom prst="rect">
            <a:avLst/>
          </a:prstGeom>
          <a:noFill/>
          <a:ln>
            <a:noFill/>
          </a:ln>
        </p:spPr>
      </p:pic>
      <p:sp>
        <p:nvSpPr>
          <p:cNvPr id="145" name="Google Shape;145;p11"/>
          <p:cNvSpPr txBox="1"/>
          <p:nvPr/>
        </p:nvSpPr>
        <p:spPr>
          <a:xfrm>
            <a:off x="2776063" y="280358"/>
            <a:ext cx="4114800" cy="41139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12700">
            <a:spAutoFit/>
          </a:bodyPr>
          <a:lstStyle/>
          <a:p>
            <a:pPr indent="0" lvl="0" marL="127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244061"/>
              </a:buClr>
              <a:buSzPts val="2800"/>
              <a:buFont typeface="Nunito"/>
              <a:buNone/>
            </a:pPr>
            <a:r>
              <a:rPr b="1" lang="en-US" sz="2800">
                <a:solidFill>
                  <a:srgbClr val="244061"/>
                </a:solidFill>
                <a:latin typeface="Nunito"/>
                <a:ea typeface="Nunito"/>
                <a:cs typeface="Nunito"/>
                <a:sym typeface="Nunito"/>
              </a:rPr>
              <a:t>Measure of Dispersion</a:t>
            </a:r>
            <a:endParaRPr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9" name="Shape 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" name="Google Shape;150;p12"/>
          <p:cNvSpPr txBox="1"/>
          <p:nvPr/>
        </p:nvSpPr>
        <p:spPr>
          <a:xfrm>
            <a:off x="914400" y="773345"/>
            <a:ext cx="5943600" cy="318779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285750" lvl="0" marL="28575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Arial"/>
              <a:buChar char="•"/>
            </a:pPr>
            <a:r>
              <a:rPr lang="en-US" sz="1400">
                <a:latin typeface="Calibri"/>
                <a:ea typeface="Calibri"/>
                <a:cs typeface="Calibri"/>
                <a:sym typeface="Calibri"/>
              </a:rPr>
              <a:t>Skewness is asymmetry in a statistical distribution, in which the curve appears distorted or skewed either to the left or to the right. Skewness can be quantified to define the extent to which a distribution differs from a normal distribution.</a:t>
            </a:r>
            <a:endParaRPr/>
          </a:p>
          <a:p>
            <a:pPr indent="-285750" lvl="0" marL="28575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1400"/>
              <a:buFont typeface="Arial"/>
              <a:buChar char="•"/>
            </a:pPr>
            <a:r>
              <a:rPr lang="en-US" sz="1400">
                <a:latin typeface="Calibri"/>
                <a:ea typeface="Calibri"/>
                <a:cs typeface="Calibri"/>
                <a:sym typeface="Calibri"/>
              </a:rPr>
              <a:t>When a distribution is skewed to the left, the tail on the curve's left-hand side is longer than the tail on the right-hand side, and the mean is less than the mode. This situation is also called </a:t>
            </a:r>
            <a:r>
              <a:rPr b="1" lang="en-US" sz="1400">
                <a:latin typeface="Calibri"/>
                <a:ea typeface="Calibri"/>
                <a:cs typeface="Calibri"/>
                <a:sym typeface="Calibri"/>
              </a:rPr>
              <a:t>negative skewness</a:t>
            </a:r>
            <a:r>
              <a:rPr lang="en-US" sz="1400">
                <a:latin typeface="Calibri"/>
                <a:ea typeface="Calibri"/>
                <a:cs typeface="Calibri"/>
                <a:sym typeface="Calibri"/>
              </a:rPr>
              <a:t>.</a:t>
            </a:r>
            <a:endParaRPr sz="1400">
              <a:latin typeface="Calibri"/>
              <a:ea typeface="Calibri"/>
              <a:cs typeface="Calibri"/>
              <a:sym typeface="Calibri"/>
            </a:endParaRPr>
          </a:p>
          <a:p>
            <a:pPr indent="-285750" lvl="0" marL="28575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1400"/>
              <a:buFont typeface="Arial"/>
              <a:buChar char="•"/>
            </a:pPr>
            <a:r>
              <a:rPr lang="en-US" sz="1400">
                <a:latin typeface="Calibri"/>
                <a:ea typeface="Calibri"/>
                <a:cs typeface="Calibri"/>
                <a:sym typeface="Calibri"/>
              </a:rPr>
              <a:t>When a distribution is skewed to the right, the tail on the curve's right-hand side is longer than the tail on the left-hand side, and the mean is greater than the mode. This situation is also called </a:t>
            </a:r>
            <a:r>
              <a:rPr b="1" lang="en-US" sz="1400">
                <a:latin typeface="Calibri"/>
                <a:ea typeface="Calibri"/>
                <a:cs typeface="Calibri"/>
                <a:sym typeface="Calibri"/>
              </a:rPr>
              <a:t>positive skewness</a:t>
            </a:r>
            <a:r>
              <a:rPr lang="en-US" sz="1400">
                <a:latin typeface="Calibri"/>
                <a:ea typeface="Calibri"/>
                <a:cs typeface="Calibri"/>
                <a:sym typeface="Calibri"/>
              </a:rPr>
              <a:t>.</a:t>
            </a:r>
            <a:endParaRPr sz="1400">
              <a:latin typeface="Calibri"/>
              <a:ea typeface="Calibri"/>
              <a:cs typeface="Calibri"/>
              <a:sym typeface="Calibri"/>
            </a:endParaRPr>
          </a:p>
          <a:p>
            <a:pPr indent="-196850" lvl="0" marL="28575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1400"/>
              <a:buFont typeface="Arial"/>
              <a:buNone/>
            </a:pPr>
            <a:r>
              <a:t/>
            </a:r>
            <a:endParaRPr sz="14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1" name="Google Shape;151;p12"/>
          <p:cNvSpPr txBox="1"/>
          <p:nvPr/>
        </p:nvSpPr>
        <p:spPr>
          <a:xfrm>
            <a:off x="3505200" y="361950"/>
            <a:ext cx="1795937" cy="41139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12700">
            <a:spAutoFit/>
          </a:bodyPr>
          <a:lstStyle/>
          <a:p>
            <a:pPr indent="0" lvl="0" marL="127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244061"/>
              </a:buClr>
              <a:buSzPts val="2800"/>
              <a:buFont typeface="Nunito"/>
              <a:buNone/>
            </a:pPr>
            <a:r>
              <a:rPr b="1" lang="en-US" sz="2800">
                <a:solidFill>
                  <a:srgbClr val="244061"/>
                </a:solidFill>
                <a:latin typeface="Nunito"/>
                <a:ea typeface="Nunito"/>
                <a:cs typeface="Nunito"/>
                <a:sym typeface="Nunito"/>
              </a:rPr>
              <a:t>Skewness</a:t>
            </a:r>
            <a:endParaRPr/>
          </a:p>
        </p:txBody>
      </p:sp>
      <p:pic>
        <p:nvPicPr>
          <p:cNvPr id="152" name="Google Shape;152;p1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638800" y="3651649"/>
            <a:ext cx="3385663" cy="143701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6" name="Shape 1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" name="Google Shape;157;p13"/>
          <p:cNvSpPr txBox="1"/>
          <p:nvPr/>
        </p:nvSpPr>
        <p:spPr>
          <a:xfrm>
            <a:off x="893775" y="1548775"/>
            <a:ext cx="8021626" cy="286232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342900" lvl="0" marL="3429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374151"/>
              </a:buClr>
              <a:buSzPts val="1800"/>
              <a:buFont typeface="Arial"/>
              <a:buChar char="•"/>
            </a:pPr>
            <a:r>
              <a:rPr lang="en-US" sz="1800">
                <a:solidFill>
                  <a:srgbClr val="374151"/>
                </a:solidFill>
                <a:latin typeface="Nunito"/>
                <a:ea typeface="Nunito"/>
                <a:cs typeface="Nunito"/>
                <a:sym typeface="Nunito"/>
              </a:rPr>
              <a:t>Skewness indicates the direction (positive or negative) of data imbalance.</a:t>
            </a:r>
            <a:endParaRPr sz="1800">
              <a:latin typeface="Nunito"/>
              <a:ea typeface="Nunito"/>
              <a:cs typeface="Nunito"/>
              <a:sym typeface="Nunito"/>
            </a:endParaRPr>
          </a:p>
          <a:p>
            <a:pPr indent="-342900" lvl="0" marL="3429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374151"/>
              </a:buClr>
              <a:buSzPts val="1800"/>
              <a:buFont typeface="Arial"/>
              <a:buChar char="•"/>
            </a:pPr>
            <a:r>
              <a:rPr lang="en-US" sz="1800">
                <a:solidFill>
                  <a:srgbClr val="374151"/>
                </a:solidFill>
                <a:latin typeface="Nunito"/>
                <a:ea typeface="Nunito"/>
                <a:cs typeface="Nunito"/>
                <a:sym typeface="Nunito"/>
              </a:rPr>
              <a:t>It helps identify the presence of outliers or extreme values in the data.</a:t>
            </a:r>
            <a:endParaRPr sz="1800">
              <a:latin typeface="Nunito"/>
              <a:ea typeface="Nunito"/>
              <a:cs typeface="Nunito"/>
              <a:sym typeface="Nunito"/>
            </a:endParaRPr>
          </a:p>
          <a:p>
            <a:pPr indent="-342900" lvl="0" marL="3429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374151"/>
              </a:buClr>
              <a:buSzPts val="1800"/>
              <a:buFont typeface="Arial"/>
              <a:buChar char="•"/>
            </a:pPr>
            <a:r>
              <a:rPr lang="en-US" sz="1800">
                <a:solidFill>
                  <a:srgbClr val="374151"/>
                </a:solidFill>
                <a:latin typeface="Nunito"/>
                <a:ea typeface="Nunito"/>
                <a:cs typeface="Nunito"/>
                <a:sym typeface="Nunito"/>
              </a:rPr>
              <a:t>Skewed data can impact the choice between mean and median as a measure of central tendency.</a:t>
            </a:r>
            <a:endParaRPr sz="1800">
              <a:latin typeface="Nunito"/>
              <a:ea typeface="Nunito"/>
              <a:cs typeface="Nunito"/>
              <a:sym typeface="Nunito"/>
            </a:endParaRPr>
          </a:p>
          <a:p>
            <a:pPr indent="-342900" lvl="0" marL="3429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374151"/>
              </a:buClr>
              <a:buSzPts val="1800"/>
              <a:buFont typeface="Arial"/>
              <a:buChar char="•"/>
            </a:pPr>
            <a:r>
              <a:rPr lang="en-US" sz="1800">
                <a:solidFill>
                  <a:srgbClr val="374151"/>
                </a:solidFill>
                <a:latin typeface="Nunito"/>
                <a:ea typeface="Nunito"/>
                <a:cs typeface="Nunito"/>
                <a:sym typeface="Nunito"/>
              </a:rPr>
              <a:t>Skewness guides decisions on data transformation or analysis methods for more accurate insights.</a:t>
            </a:r>
            <a:endParaRPr sz="1800">
              <a:latin typeface="Nunito"/>
              <a:ea typeface="Nunito"/>
              <a:cs typeface="Nunito"/>
              <a:sym typeface="Nuni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374151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  <p:sp>
        <p:nvSpPr>
          <p:cNvPr id="158" name="Google Shape;158;p13"/>
          <p:cNvSpPr txBox="1"/>
          <p:nvPr/>
        </p:nvSpPr>
        <p:spPr>
          <a:xfrm>
            <a:off x="2552700" y="597878"/>
            <a:ext cx="4762500" cy="269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12700">
            <a:spAutoFit/>
          </a:bodyPr>
          <a:lstStyle/>
          <a:p>
            <a:pPr indent="0" lvl="0" marL="1270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244061"/>
              </a:buClr>
              <a:buSzPts val="1800"/>
              <a:buFont typeface="Nunito"/>
              <a:buNone/>
            </a:pPr>
            <a:r>
              <a:rPr b="1" lang="en-US" sz="1800">
                <a:solidFill>
                  <a:srgbClr val="244061"/>
                </a:solidFill>
                <a:latin typeface="Nunito"/>
                <a:ea typeface="Nunito"/>
                <a:cs typeface="Nunito"/>
                <a:sym typeface="Nunito"/>
              </a:rPr>
              <a:t>How skewness affects data interpretation</a:t>
            </a:r>
            <a:endParaRPr b="1" sz="1800">
              <a:solidFill>
                <a:srgbClr val="244061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2" name="Shape 1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" name="Google Shape;163;p14"/>
          <p:cNvSpPr txBox="1"/>
          <p:nvPr/>
        </p:nvSpPr>
        <p:spPr>
          <a:xfrm>
            <a:off x="914400" y="1581150"/>
            <a:ext cx="6096000" cy="28784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285750" lvl="0" marL="28575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Font typeface="Arial"/>
              <a:buChar char="•"/>
            </a:pPr>
            <a:r>
              <a:rPr lang="en-US" sz="1800">
                <a:latin typeface="Calibri"/>
                <a:ea typeface="Calibri"/>
                <a:cs typeface="Calibri"/>
                <a:sym typeface="Calibri"/>
              </a:rPr>
              <a:t>The coefficient of variation (CV), also known as relative standard deviation (RSD), is a standardized measure of dispersion of a probability distribution or frequency distribution. </a:t>
            </a:r>
            <a:endParaRPr/>
          </a:p>
          <a:p>
            <a:pPr indent="-285750" lvl="0" marL="28575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1800"/>
              <a:buFont typeface="Arial"/>
              <a:buChar char="•"/>
            </a:pPr>
            <a:r>
              <a:rPr lang="en-US" sz="1800">
                <a:latin typeface="Calibri"/>
                <a:ea typeface="Calibri"/>
                <a:cs typeface="Calibri"/>
                <a:sym typeface="Calibri"/>
              </a:rPr>
              <a:t>It is often expressed as a percentage, and is defined as the ratio of the standard deviation(σ) to the mean(μ). It gives the measure of variability</a:t>
            </a:r>
            <a:endParaRPr sz="1800"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b="1" lang="en-US" sz="1800">
                <a:latin typeface="Calibri"/>
                <a:ea typeface="Calibri"/>
                <a:cs typeface="Calibri"/>
                <a:sym typeface="Calibri"/>
              </a:rPr>
              <a:t>CV = Standard Deviation / Mean </a:t>
            </a:r>
            <a:endParaRPr sz="18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4" name="Google Shape;164;p14"/>
          <p:cNvSpPr txBox="1"/>
          <p:nvPr/>
        </p:nvSpPr>
        <p:spPr>
          <a:xfrm>
            <a:off x="2639524" y="438150"/>
            <a:ext cx="4675675" cy="41139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12700">
            <a:spAutoFit/>
          </a:bodyPr>
          <a:lstStyle/>
          <a:p>
            <a:pPr indent="0" lvl="0" marL="127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244061"/>
              </a:buClr>
              <a:buSzPts val="2800"/>
              <a:buFont typeface="Nunito"/>
              <a:buNone/>
            </a:pPr>
            <a:r>
              <a:rPr b="1" lang="en-US" sz="2800">
                <a:solidFill>
                  <a:srgbClr val="244061"/>
                </a:solidFill>
                <a:latin typeface="Nunito"/>
                <a:ea typeface="Nunito"/>
                <a:cs typeface="Nunito"/>
                <a:sym typeface="Nunito"/>
              </a:rPr>
              <a:t>Coefficient Of Variation (CV) </a:t>
            </a:r>
            <a:endParaRPr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8" name="Shape 1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" name="Google Shape;169;p15"/>
          <p:cNvSpPr txBox="1"/>
          <p:nvPr/>
        </p:nvSpPr>
        <p:spPr>
          <a:xfrm>
            <a:off x="1905000" y="209550"/>
            <a:ext cx="5638800" cy="268355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400">
                <a:solidFill>
                  <a:srgbClr val="243F60"/>
                </a:solidFill>
                <a:latin typeface="Cambria"/>
                <a:ea typeface="Cambria"/>
                <a:cs typeface="Cambria"/>
                <a:sym typeface="Cambria"/>
              </a:rPr>
              <a:t>Covariance</a:t>
            </a:r>
            <a:endParaRPr b="1" sz="1400">
              <a:solidFill>
                <a:srgbClr val="243F60"/>
              </a:solidFill>
              <a:latin typeface="Cambria"/>
              <a:ea typeface="Cambria"/>
              <a:cs typeface="Cambria"/>
              <a:sym typeface="Cambria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latin typeface="Calibri"/>
                <a:ea typeface="Calibri"/>
                <a:cs typeface="Calibri"/>
                <a:sym typeface="Calibri"/>
              </a:rPr>
              <a:t>It is method to find the variance between two variables.</a:t>
            </a:r>
            <a:endParaRPr sz="1400"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1400"/>
              <a:buFont typeface="Calibri"/>
              <a:buAutoNum type="arabicPeriod"/>
            </a:pPr>
            <a:r>
              <a:rPr lang="en-US" sz="1400">
                <a:latin typeface="Calibri"/>
                <a:ea typeface="Calibri"/>
                <a:cs typeface="Calibri"/>
                <a:sym typeface="Calibri"/>
              </a:rPr>
              <a:t>It is the relationship between a pair of random variables where change in one variable causes change in another variable.</a:t>
            </a:r>
            <a:endParaRPr sz="1400"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Calibri"/>
              <a:buAutoNum type="arabicPeriod"/>
            </a:pPr>
            <a:r>
              <a:rPr lang="en-US" sz="1400">
                <a:latin typeface="Calibri"/>
                <a:ea typeface="Calibri"/>
                <a:cs typeface="Calibri"/>
                <a:sym typeface="Calibri"/>
              </a:rPr>
              <a:t>It can take any value between -infinity to +infinity, where the negative value represents the negative relationship whereas a positive value represents the positive relationship.</a:t>
            </a:r>
            <a:endParaRPr sz="1400"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Calibri"/>
              <a:buAutoNum type="arabicPeriod"/>
            </a:pPr>
            <a:r>
              <a:rPr lang="en-US" sz="1400">
                <a:latin typeface="Calibri"/>
                <a:ea typeface="Calibri"/>
                <a:cs typeface="Calibri"/>
                <a:sym typeface="Calibri"/>
              </a:rPr>
              <a:t>It is used for the linear relationship between variables.</a:t>
            </a:r>
            <a:endParaRPr sz="1400"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Calibri"/>
              <a:buAutoNum type="arabicPeriod"/>
            </a:pPr>
            <a:r>
              <a:rPr lang="en-US" sz="1400">
                <a:latin typeface="Calibri"/>
                <a:ea typeface="Calibri"/>
                <a:cs typeface="Calibri"/>
                <a:sym typeface="Calibri"/>
              </a:rPr>
              <a:t>It gives the direction of relationship between variables.</a:t>
            </a:r>
            <a:endParaRPr sz="1400"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Calibri"/>
              <a:buAutoNum type="arabicPeriod"/>
            </a:pPr>
            <a:r>
              <a:rPr lang="en-US" sz="1400">
                <a:latin typeface="Calibri"/>
                <a:ea typeface="Calibri"/>
                <a:cs typeface="Calibri"/>
                <a:sym typeface="Calibri"/>
              </a:rPr>
              <a:t>It has dimensions.</a:t>
            </a:r>
            <a:endParaRPr sz="140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70" name="Google Shape;170;p1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029200" y="2718176"/>
            <a:ext cx="3798343" cy="225039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4" name="Shape 1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5" name="Google Shape;175;p1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133600" y="1809750"/>
            <a:ext cx="4645660" cy="2524125"/>
          </a:xfrm>
          <a:prstGeom prst="rect">
            <a:avLst/>
          </a:prstGeom>
          <a:noFill/>
          <a:ln>
            <a:noFill/>
          </a:ln>
        </p:spPr>
      </p:pic>
      <p:sp>
        <p:nvSpPr>
          <p:cNvPr id="176" name="Google Shape;176;p16"/>
          <p:cNvSpPr txBox="1"/>
          <p:nvPr/>
        </p:nvSpPr>
        <p:spPr>
          <a:xfrm>
            <a:off x="2639524" y="438150"/>
            <a:ext cx="4675675" cy="41139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12700">
            <a:spAutoFit/>
          </a:bodyPr>
          <a:lstStyle/>
          <a:p>
            <a:pPr indent="0" lvl="0" marL="127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244061"/>
              </a:buClr>
              <a:buSzPts val="2800"/>
              <a:buFont typeface="Nunito"/>
              <a:buNone/>
            </a:pPr>
            <a:r>
              <a:rPr b="1" lang="en-US" sz="2800">
                <a:solidFill>
                  <a:srgbClr val="244061"/>
                </a:solidFill>
                <a:latin typeface="Nunito"/>
                <a:ea typeface="Nunito"/>
                <a:cs typeface="Nunito"/>
                <a:sym typeface="Nunito"/>
              </a:rPr>
              <a:t>Covariance Relationship</a:t>
            </a:r>
            <a:endParaRPr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0" name="Shape 1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1" name="Google Shape;181;p17"/>
          <p:cNvSpPr txBox="1"/>
          <p:nvPr/>
        </p:nvSpPr>
        <p:spPr>
          <a:xfrm>
            <a:off x="1981200" y="20044"/>
            <a:ext cx="4572000" cy="464306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400">
                <a:solidFill>
                  <a:srgbClr val="243F60"/>
                </a:solidFill>
                <a:latin typeface="Cambria"/>
                <a:ea typeface="Cambria"/>
                <a:cs typeface="Cambria"/>
                <a:sym typeface="Cambria"/>
              </a:rPr>
              <a:t>		</a:t>
            </a:r>
            <a:r>
              <a:rPr b="1" lang="en-US" sz="1800">
                <a:solidFill>
                  <a:srgbClr val="243F60"/>
                </a:solidFill>
                <a:latin typeface="Cambria"/>
                <a:ea typeface="Cambria"/>
                <a:cs typeface="Cambria"/>
                <a:sym typeface="Cambria"/>
              </a:rPr>
              <a:t>Correlation</a:t>
            </a:r>
            <a:endParaRPr b="1" sz="1800">
              <a:solidFill>
                <a:srgbClr val="243F60"/>
              </a:solidFill>
              <a:latin typeface="Cambria"/>
              <a:ea typeface="Cambria"/>
              <a:cs typeface="Cambria"/>
              <a:sym typeface="Cambria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latin typeface="Calibri"/>
                <a:ea typeface="Calibri"/>
                <a:cs typeface="Calibri"/>
                <a:sym typeface="Calibri"/>
              </a:rPr>
              <a:t> </a:t>
            </a:r>
            <a:endParaRPr sz="1400"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-US" sz="1400">
                <a:latin typeface="Calibri"/>
                <a:ea typeface="Calibri"/>
                <a:cs typeface="Calibri"/>
                <a:sym typeface="Calibri"/>
              </a:rPr>
              <a:t> </a:t>
            </a:r>
            <a:endParaRPr sz="1400"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-US" sz="1400">
                <a:latin typeface="Calibri"/>
                <a:ea typeface="Calibri"/>
                <a:cs typeface="Calibri"/>
                <a:sym typeface="Calibri"/>
              </a:rPr>
              <a:t>* It shows whether and how strongly pairs of variables are related to each other.</a:t>
            </a:r>
            <a:endParaRPr sz="1400"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-US" sz="1400">
                <a:latin typeface="Calibri"/>
                <a:ea typeface="Calibri"/>
                <a:cs typeface="Calibri"/>
                <a:sym typeface="Calibri"/>
              </a:rPr>
              <a:t>* Correlation takes values between -1 to +1, wherein values close to +1 represents strong positive </a:t>
            </a:r>
            <a:endParaRPr sz="1400"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-US" sz="1400">
                <a:latin typeface="Calibri"/>
                <a:ea typeface="Calibri"/>
                <a:cs typeface="Calibri"/>
                <a:sym typeface="Calibri"/>
              </a:rPr>
              <a:t>* correlation and values close to -1 represents strong negative correlation.</a:t>
            </a:r>
            <a:endParaRPr sz="1400"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-US" sz="1400">
                <a:latin typeface="Calibri"/>
                <a:ea typeface="Calibri"/>
                <a:cs typeface="Calibri"/>
                <a:sym typeface="Calibri"/>
              </a:rPr>
              <a:t>* In this variable are indirectly related to each other.</a:t>
            </a:r>
            <a:endParaRPr sz="1400"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-US" sz="1400">
                <a:latin typeface="Calibri"/>
                <a:ea typeface="Calibri"/>
                <a:cs typeface="Calibri"/>
                <a:sym typeface="Calibri"/>
              </a:rPr>
              <a:t>* It gives the direction and strength of relationship between variables.</a:t>
            </a:r>
            <a:endParaRPr sz="1400"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-US" sz="1400">
                <a:latin typeface="Calibri"/>
                <a:ea typeface="Calibri"/>
                <a:cs typeface="Calibri"/>
                <a:sym typeface="Calibri"/>
              </a:rPr>
              <a:t>* It is the scaled version of Covariance.</a:t>
            </a:r>
            <a:endParaRPr sz="1400"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-US" sz="1400">
                <a:latin typeface="Calibri"/>
                <a:ea typeface="Calibri"/>
                <a:cs typeface="Calibri"/>
                <a:sym typeface="Calibri"/>
              </a:rPr>
              <a:t>* It is dimensionless.</a:t>
            </a:r>
            <a:endParaRPr sz="1400"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5" name="Shape 1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6" name="Google Shape;186;p1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6200" y="2119961"/>
            <a:ext cx="4645660" cy="21875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87" name="Google Shape;187;p1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105400" y="1960742"/>
            <a:ext cx="3888749" cy="2362200"/>
          </a:xfrm>
          <a:prstGeom prst="rect">
            <a:avLst/>
          </a:prstGeom>
          <a:noFill/>
          <a:ln>
            <a:noFill/>
          </a:ln>
        </p:spPr>
      </p:pic>
      <p:sp>
        <p:nvSpPr>
          <p:cNvPr id="188" name="Google Shape;188;p18"/>
          <p:cNvSpPr txBox="1"/>
          <p:nvPr/>
        </p:nvSpPr>
        <p:spPr>
          <a:xfrm>
            <a:off x="2639524" y="438150"/>
            <a:ext cx="4675675" cy="41139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12700">
            <a:spAutoFit/>
          </a:bodyPr>
          <a:lstStyle/>
          <a:p>
            <a:pPr indent="0" lvl="0" marL="127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244061"/>
              </a:buClr>
              <a:buSzPts val="2800"/>
              <a:buFont typeface="Nunito"/>
              <a:buNone/>
            </a:pPr>
            <a:r>
              <a:rPr b="1" lang="en-US" sz="2800">
                <a:solidFill>
                  <a:srgbClr val="244061"/>
                </a:solidFill>
                <a:latin typeface="Nunito"/>
                <a:ea typeface="Nunito"/>
                <a:cs typeface="Nunito"/>
                <a:sym typeface="Nunito"/>
              </a:rPr>
              <a:t>Correlation Relationship</a:t>
            </a:r>
            <a:endParaRPr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2" name="Shape 1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3" name="Google Shape;193;p19"/>
          <p:cNvSpPr txBox="1"/>
          <p:nvPr/>
        </p:nvSpPr>
        <p:spPr>
          <a:xfrm>
            <a:off x="457200" y="1581150"/>
            <a:ext cx="8555650" cy="30469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600">
                <a:solidFill>
                  <a:srgbClr val="374151"/>
                </a:solidFill>
                <a:latin typeface="Nunito"/>
                <a:ea typeface="Nunito"/>
                <a:cs typeface="Nunito"/>
                <a:sym typeface="Nunito"/>
              </a:rPr>
              <a:t>Central Limit Theorem:</a:t>
            </a:r>
            <a:endParaRPr sz="1600">
              <a:latin typeface="Nunito"/>
              <a:ea typeface="Nunito"/>
              <a:cs typeface="Nunito"/>
              <a:sym typeface="Nuni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600">
              <a:solidFill>
                <a:srgbClr val="374151"/>
              </a:solidFill>
              <a:latin typeface="Nunito"/>
              <a:ea typeface="Nunito"/>
              <a:cs typeface="Nunito"/>
              <a:sym typeface="Nuni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rgbClr val="374151"/>
                </a:solidFill>
                <a:latin typeface="Nunito"/>
                <a:ea typeface="Nunito"/>
                <a:cs typeface="Nunito"/>
                <a:sym typeface="Nunito"/>
              </a:rPr>
              <a:t>The Central Limit Theorem (CLT) is a fundamental concept in statistics that states the following:</a:t>
            </a:r>
            <a:endParaRPr sz="1600">
              <a:latin typeface="Nunito"/>
              <a:ea typeface="Nunito"/>
              <a:cs typeface="Nunito"/>
              <a:sym typeface="Nuni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>
              <a:solidFill>
                <a:srgbClr val="374151"/>
              </a:solidFill>
              <a:latin typeface="Nunito"/>
              <a:ea typeface="Nunito"/>
              <a:cs typeface="Nunito"/>
              <a:sym typeface="Nunito"/>
            </a:endParaRPr>
          </a:p>
          <a:p>
            <a:pPr indent="0" lvl="1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en-US" sz="1600">
                <a:solidFill>
                  <a:srgbClr val="374151"/>
                </a:solidFill>
                <a:latin typeface="Nunito"/>
                <a:ea typeface="Nunito"/>
                <a:cs typeface="Nunito"/>
                <a:sym typeface="Nunito"/>
              </a:rPr>
              <a:t>"When independent random variables are added together, their properly normalized sum tends toward a normal distribution (a bell-shaped curve), regardless of the shape of the original random variables' distributions."</a:t>
            </a:r>
            <a:endParaRPr sz="1600">
              <a:latin typeface="Nunito"/>
              <a:ea typeface="Nunito"/>
              <a:cs typeface="Nunito"/>
              <a:sym typeface="Nunito"/>
            </a:endParaRPr>
          </a:p>
          <a:p>
            <a:pPr indent="0" lvl="1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i="1" sz="1600">
              <a:solidFill>
                <a:srgbClr val="374151"/>
              </a:solidFill>
              <a:latin typeface="Nunito"/>
              <a:ea typeface="Nunito"/>
              <a:cs typeface="Nunito"/>
              <a:sym typeface="Nuni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rgbClr val="374151"/>
                </a:solidFill>
                <a:latin typeface="Nunito"/>
                <a:ea typeface="Nunito"/>
                <a:cs typeface="Nunito"/>
                <a:sym typeface="Nunito"/>
              </a:rPr>
              <a:t>In other words, as you take larger and larger samples from a population and calculate the means (or sums) of those samples, the distribution of those sample means will approach a normal distribution, even if the population itself is not normally distributed.</a:t>
            </a:r>
            <a:endParaRPr sz="1600">
              <a:latin typeface="Nunito"/>
              <a:ea typeface="Nunito"/>
              <a:cs typeface="Nunito"/>
              <a:sym typeface="Nunito"/>
            </a:endParaRPr>
          </a:p>
        </p:txBody>
      </p:sp>
      <p:sp>
        <p:nvSpPr>
          <p:cNvPr id="194" name="Google Shape;194;p19"/>
          <p:cNvSpPr txBox="1"/>
          <p:nvPr/>
        </p:nvSpPr>
        <p:spPr>
          <a:xfrm>
            <a:off x="2639525" y="438150"/>
            <a:ext cx="4191000" cy="41139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12700">
            <a:spAutoFit/>
          </a:bodyPr>
          <a:lstStyle/>
          <a:p>
            <a:pPr indent="0" lvl="0" marL="127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244061"/>
              </a:buClr>
              <a:buSzPts val="2800"/>
              <a:buFont typeface="Nunito"/>
              <a:buNone/>
            </a:pPr>
            <a:r>
              <a:rPr b="1" lang="en-US" sz="2800">
                <a:solidFill>
                  <a:srgbClr val="244061"/>
                </a:solidFill>
                <a:latin typeface="Nunito"/>
                <a:ea typeface="Nunito"/>
                <a:cs typeface="Nunito"/>
                <a:sym typeface="Nunito"/>
              </a:rPr>
              <a:t>Central Limit Theorem</a:t>
            </a:r>
            <a:endParaRPr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8" name="Shape 1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9" name="Google Shape;199;p20"/>
          <p:cNvSpPr txBox="1"/>
          <p:nvPr/>
        </p:nvSpPr>
        <p:spPr>
          <a:xfrm>
            <a:off x="315654" y="819150"/>
            <a:ext cx="8512692" cy="230832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rgbClr val="0D405F"/>
                </a:solidFill>
                <a:latin typeface="Nunito"/>
                <a:ea typeface="Nunito"/>
                <a:cs typeface="Nunito"/>
                <a:sym typeface="Nunito"/>
              </a:rPr>
              <a:t>Imagining an experiment may help you to understand sampling distributions:</a:t>
            </a:r>
            <a:endParaRPr sz="16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>
              <a:solidFill>
                <a:srgbClr val="0D405F"/>
              </a:solidFill>
              <a:latin typeface="Nunito"/>
              <a:ea typeface="Nunito"/>
              <a:cs typeface="Nunito"/>
              <a:sym typeface="Nunito"/>
            </a:endParaRPr>
          </a:p>
          <a:p>
            <a:pPr indent="-342900" lvl="0" marL="342900" rtl="0" algn="l">
              <a:spcBef>
                <a:spcPts val="0"/>
              </a:spcBef>
              <a:spcAft>
                <a:spcPts val="0"/>
              </a:spcAft>
              <a:buClr>
                <a:srgbClr val="0D405F"/>
              </a:buClr>
              <a:buSzPts val="1600"/>
              <a:buFont typeface="Arial"/>
              <a:buChar char="•"/>
            </a:pPr>
            <a:r>
              <a:rPr lang="en-US" sz="1600">
                <a:solidFill>
                  <a:srgbClr val="0D405F"/>
                </a:solidFill>
                <a:latin typeface="Nunito"/>
                <a:ea typeface="Nunito"/>
                <a:cs typeface="Nunito"/>
                <a:sym typeface="Nunito"/>
              </a:rPr>
              <a:t>Suppose that you draw a random sample from a population and calculate a statistic for the sample, such as the mean.</a:t>
            </a:r>
            <a:endParaRPr/>
          </a:p>
          <a:p>
            <a:pPr indent="-342900" lvl="0" marL="342900" rtl="0" algn="l">
              <a:spcBef>
                <a:spcPts val="0"/>
              </a:spcBef>
              <a:spcAft>
                <a:spcPts val="0"/>
              </a:spcAft>
              <a:buClr>
                <a:srgbClr val="0D405F"/>
              </a:buClr>
              <a:buSzPts val="1600"/>
              <a:buFont typeface="Arial"/>
              <a:buChar char="•"/>
            </a:pPr>
            <a:r>
              <a:rPr lang="en-US" sz="1600">
                <a:solidFill>
                  <a:srgbClr val="0D405F"/>
                </a:solidFill>
                <a:latin typeface="Nunito"/>
                <a:ea typeface="Nunito"/>
                <a:cs typeface="Nunito"/>
                <a:sym typeface="Nunito"/>
              </a:rPr>
              <a:t>Now you draw another random sample of the same size, and again calculate the mean.</a:t>
            </a:r>
            <a:endParaRPr/>
          </a:p>
          <a:p>
            <a:pPr indent="-342900" lvl="0" marL="342900" rtl="0" algn="l">
              <a:spcBef>
                <a:spcPts val="0"/>
              </a:spcBef>
              <a:spcAft>
                <a:spcPts val="0"/>
              </a:spcAft>
              <a:buClr>
                <a:srgbClr val="0D405F"/>
              </a:buClr>
              <a:buSzPts val="1600"/>
              <a:buFont typeface="Arial"/>
              <a:buChar char="•"/>
            </a:pPr>
            <a:r>
              <a:rPr lang="en-US" sz="1600">
                <a:solidFill>
                  <a:srgbClr val="0D405F"/>
                </a:solidFill>
                <a:latin typeface="Nunito"/>
                <a:ea typeface="Nunito"/>
                <a:cs typeface="Nunito"/>
                <a:sym typeface="Nunito"/>
              </a:rPr>
              <a:t>You repeat this process many times, and end up with a large number of means, one for each sample.</a:t>
            </a:r>
            <a:endParaRPr/>
          </a:p>
          <a:p>
            <a:pPr indent="-342900" lvl="0" marL="342900" rtl="0" algn="l">
              <a:spcBef>
                <a:spcPts val="0"/>
              </a:spcBef>
              <a:spcAft>
                <a:spcPts val="0"/>
              </a:spcAft>
              <a:buClr>
                <a:srgbClr val="0D405F"/>
              </a:buClr>
              <a:buSzPts val="1600"/>
              <a:buFont typeface="Arial"/>
              <a:buChar char="•"/>
            </a:pPr>
            <a:r>
              <a:rPr lang="en-US" sz="1600">
                <a:solidFill>
                  <a:srgbClr val="0D405F"/>
                </a:solidFill>
                <a:latin typeface="Nunito"/>
                <a:ea typeface="Nunito"/>
                <a:cs typeface="Nunito"/>
                <a:sym typeface="Nunito"/>
              </a:rPr>
              <a:t>The distribution of the sample means is an example of a sampling distribution.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>
              <a:solidFill>
                <a:srgbClr val="0D405F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  <p:sp>
        <p:nvSpPr>
          <p:cNvPr id="200" name="Google Shape;200;p20"/>
          <p:cNvSpPr txBox="1"/>
          <p:nvPr/>
        </p:nvSpPr>
        <p:spPr>
          <a:xfrm>
            <a:off x="5382967" y="2952750"/>
            <a:ext cx="3733866" cy="20313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rgbClr val="0D405F"/>
                </a:solidFill>
                <a:latin typeface="Nunito"/>
                <a:ea typeface="Nunito"/>
                <a:cs typeface="Nunito"/>
                <a:sym typeface="Nunito"/>
              </a:rPr>
              <a:t>The central limit theorem says that the sampling distribution of the mean will always be normally distributed, if the sample size is large enough.</a:t>
            </a:r>
            <a:endParaRPr sz="14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rgbClr val="0D405F"/>
              </a:solidFill>
              <a:latin typeface="Nunito"/>
              <a:ea typeface="Nunito"/>
              <a:cs typeface="Nunito"/>
              <a:sym typeface="Nuni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rgbClr val="0D405F"/>
                </a:solidFill>
                <a:latin typeface="Nunito"/>
                <a:ea typeface="Nunito"/>
                <a:cs typeface="Nunito"/>
                <a:sym typeface="Nunito"/>
              </a:rPr>
              <a:t>Regardless of whether the population has a normal, Poisson, binomial, or any other distribution, the sampling distribution of the mean will be normal.​</a:t>
            </a:r>
            <a:endParaRPr sz="1400"/>
          </a:p>
        </p:txBody>
      </p:sp>
      <p:pic>
        <p:nvPicPr>
          <p:cNvPr descr="Central Limit Theorem - Definition, Formula and Applications" id="201" name="Google Shape;201;p20"/>
          <p:cNvPicPr preferRelativeResize="0"/>
          <p:nvPr/>
        </p:nvPicPr>
        <p:blipFill rotWithShape="1">
          <a:blip r:embed="rId3">
            <a:alphaModFix/>
          </a:blip>
          <a:srcRect b="2532" l="0" r="14166" t="0"/>
          <a:stretch/>
        </p:blipFill>
        <p:spPr>
          <a:xfrm>
            <a:off x="609601" y="2987371"/>
            <a:ext cx="3657600" cy="1946579"/>
          </a:xfrm>
          <a:prstGeom prst="rect">
            <a:avLst/>
          </a:prstGeom>
          <a:noFill/>
          <a:ln>
            <a:noFill/>
          </a:ln>
        </p:spPr>
      </p:pic>
      <p:sp>
        <p:nvSpPr>
          <p:cNvPr id="202" name="Google Shape;202;p20"/>
          <p:cNvSpPr txBox="1"/>
          <p:nvPr/>
        </p:nvSpPr>
        <p:spPr>
          <a:xfrm>
            <a:off x="2590800" y="209550"/>
            <a:ext cx="4191000" cy="41139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12700">
            <a:spAutoFit/>
          </a:bodyPr>
          <a:lstStyle/>
          <a:p>
            <a:pPr indent="0" lvl="0" marL="127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244061"/>
              </a:buClr>
              <a:buSzPts val="2800"/>
              <a:buFont typeface="Nunito"/>
              <a:buNone/>
            </a:pPr>
            <a:r>
              <a:rPr b="1" lang="en-US" sz="2800">
                <a:solidFill>
                  <a:srgbClr val="244061"/>
                </a:solidFill>
                <a:latin typeface="Nunito"/>
                <a:ea typeface="Nunito"/>
                <a:cs typeface="Nunito"/>
                <a:sym typeface="Nunito"/>
              </a:rPr>
              <a:t>Central Limit Theorem</a:t>
            </a:r>
            <a:endParaRPr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6" name="Shape 2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7" name="Google Shape;207;p2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143000" y="666750"/>
            <a:ext cx="7162800" cy="42481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2024-02-04T16:15:01Z</dcterms:creat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2024-02-04T00:00:00Z</vt:filetime>
  </property>
  <property fmtid="{D5CDD505-2E9C-101B-9397-08002B2CF9AE}" pid="3" name="Creator">
    <vt:lpwstr>PDFium</vt:lpwstr>
  </property>
  <property fmtid="{D5CDD505-2E9C-101B-9397-08002B2CF9AE}" pid="4" name="Producer">
    <vt:lpwstr>PDFium</vt:lpwstr>
  </property>
  <property fmtid="{D5CDD505-2E9C-101B-9397-08002B2CF9AE}" pid="5" name="LastSaved">
    <vt:filetime>2024-02-04T00:00:00Z</vt:filetime>
  </property>
  <property fmtid="{D5CDD505-2E9C-101B-9397-08002B2CF9AE}" pid="6" name="MSIP_Label_ea60d57e-af5b-4752-ac57-3e4f28ca11dc_Enabled">
    <vt:lpwstr>true</vt:lpwstr>
  </property>
  <property fmtid="{D5CDD505-2E9C-101B-9397-08002B2CF9AE}" pid="7" name="MSIP_Label_ea60d57e-af5b-4752-ac57-3e4f28ca11dc_SetDate">
    <vt:lpwstr>2024-02-04T16:32:11Z</vt:lpwstr>
  </property>
  <property fmtid="{D5CDD505-2E9C-101B-9397-08002B2CF9AE}" pid="8" name="MSIP_Label_ea60d57e-af5b-4752-ac57-3e4f28ca11dc_Method">
    <vt:lpwstr>Standard</vt:lpwstr>
  </property>
  <property fmtid="{D5CDD505-2E9C-101B-9397-08002B2CF9AE}" pid="9" name="MSIP_Label_ea60d57e-af5b-4752-ac57-3e4f28ca11dc_Name">
    <vt:lpwstr>ea60d57e-af5b-4752-ac57-3e4f28ca11dc</vt:lpwstr>
  </property>
  <property fmtid="{D5CDD505-2E9C-101B-9397-08002B2CF9AE}" pid="10" name="MSIP_Label_ea60d57e-af5b-4752-ac57-3e4f28ca11dc_SiteId">
    <vt:lpwstr>36da45f1-dd2c-4d1f-af13-5abe46b99921</vt:lpwstr>
  </property>
  <property fmtid="{D5CDD505-2E9C-101B-9397-08002B2CF9AE}" pid="11" name="MSIP_Label_ea60d57e-af5b-4752-ac57-3e4f28ca11dc_ActionId">
    <vt:lpwstr>4f3fb654-d885-479f-be29-344e998b5766</vt:lpwstr>
  </property>
  <property fmtid="{D5CDD505-2E9C-101B-9397-08002B2CF9AE}" pid="12" name="MSIP_Label_ea60d57e-af5b-4752-ac57-3e4f28ca11dc_ContentBits">
    <vt:lpwstr>0</vt:lpwstr>
  </property>
</Properties>
</file>